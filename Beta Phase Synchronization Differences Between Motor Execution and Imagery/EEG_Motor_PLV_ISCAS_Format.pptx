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0" r:id="rId9"/>
    <p:sldId id="263" r:id="rId10"/>
    <p:sldId id="264" r:id="rId11"/>
    <p:sldId id="267" r:id="rId12"/>
    <p:sldId id="268" r:id="rId13"/>
    <p:sldId id="269" r:id="rId14"/>
    <p:sldId id="271" r:id="rId15"/>
    <p:sldId id="265" r:id="rId16"/>
    <p:sldId id="266" r:id="rId1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0CDFF8-2A5D-4254-BAA8-47FB653C31C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25E9D919-3393-4609-BB7E-11DC95347272}">
      <dgm:prSet/>
      <dgm:spPr/>
      <dgm:t>
        <a:bodyPr/>
        <a:lstStyle/>
        <a:p>
          <a:r>
            <a:rPr lang="en-US"/>
            <a:t>EEG β-band rhythms underlie sensorimotor functions in real and imagined movement.</a:t>
          </a:r>
        </a:p>
      </dgm:t>
    </dgm:pt>
    <dgm:pt modelId="{F65034BA-8625-462D-9395-00D187E2EBBE}" type="parTrans" cxnId="{591564F4-58FC-45E8-9A28-AF161201108B}">
      <dgm:prSet/>
      <dgm:spPr/>
      <dgm:t>
        <a:bodyPr/>
        <a:lstStyle/>
        <a:p>
          <a:endParaRPr lang="en-US"/>
        </a:p>
      </dgm:t>
    </dgm:pt>
    <dgm:pt modelId="{B2B53D69-53CE-48BA-86E7-32F26B98FC9B}" type="sibTrans" cxnId="{591564F4-58FC-45E8-9A28-AF161201108B}">
      <dgm:prSet/>
      <dgm:spPr/>
      <dgm:t>
        <a:bodyPr/>
        <a:lstStyle/>
        <a:p>
          <a:endParaRPr lang="en-US"/>
        </a:p>
      </dgm:t>
    </dgm:pt>
    <dgm:pt modelId="{65006ACB-D51C-434E-9BE4-62A226612AA4}">
      <dgm:prSet/>
      <dgm:spPr/>
      <dgm:t>
        <a:bodyPr/>
        <a:lstStyle/>
        <a:p>
          <a:r>
            <a:rPr lang="en-US"/>
            <a:t>Motor imagery BCIs suffer from lower accuracy compared to execution paradigms.</a:t>
          </a:r>
        </a:p>
      </dgm:t>
    </dgm:pt>
    <dgm:pt modelId="{A4D94CC9-47D4-49F7-B151-30E7E1A0A151}" type="parTrans" cxnId="{A11F9965-716B-4CD4-B91D-CBAB499DB0EB}">
      <dgm:prSet/>
      <dgm:spPr/>
      <dgm:t>
        <a:bodyPr/>
        <a:lstStyle/>
        <a:p>
          <a:endParaRPr lang="en-US"/>
        </a:p>
      </dgm:t>
    </dgm:pt>
    <dgm:pt modelId="{0EEDC037-DB19-4BE3-B28E-EEDD17F2328D}" type="sibTrans" cxnId="{A11F9965-716B-4CD4-B91D-CBAB499DB0EB}">
      <dgm:prSet/>
      <dgm:spPr/>
      <dgm:t>
        <a:bodyPr/>
        <a:lstStyle/>
        <a:p>
          <a:endParaRPr lang="en-US"/>
        </a:p>
      </dgm:t>
    </dgm:pt>
    <dgm:pt modelId="{5F8C12E5-498B-4483-942C-6F1D6837CFF4}">
      <dgm:prSet/>
      <dgm:spPr/>
      <dgm:t>
        <a:bodyPr/>
        <a:lstStyle/>
        <a:p>
          <a:r>
            <a:rPr lang="en-US"/>
            <a:t>Understanding execution vs. imagery synchrony can improve neurorehabilitation and BCIs.</a:t>
          </a:r>
        </a:p>
      </dgm:t>
    </dgm:pt>
    <dgm:pt modelId="{C6C98EFA-6D7F-492D-A5A0-064DC646F067}" type="parTrans" cxnId="{97F3706D-07D3-4BD5-8FF1-31A85DC0AACB}">
      <dgm:prSet/>
      <dgm:spPr/>
      <dgm:t>
        <a:bodyPr/>
        <a:lstStyle/>
        <a:p>
          <a:endParaRPr lang="en-US"/>
        </a:p>
      </dgm:t>
    </dgm:pt>
    <dgm:pt modelId="{5FF787C8-C6DC-492A-AC1F-A7DA0353F56E}" type="sibTrans" cxnId="{97F3706D-07D3-4BD5-8FF1-31A85DC0AACB}">
      <dgm:prSet/>
      <dgm:spPr/>
      <dgm:t>
        <a:bodyPr/>
        <a:lstStyle/>
        <a:p>
          <a:endParaRPr lang="en-US"/>
        </a:p>
      </dgm:t>
    </dgm:pt>
    <dgm:pt modelId="{17F41716-AAC6-42B8-AB1B-BDFC6FCDA654}" type="pres">
      <dgm:prSet presAssocID="{2C0CDFF8-2A5D-4254-BAA8-47FB653C31C2}" presName="linear" presStyleCnt="0">
        <dgm:presLayoutVars>
          <dgm:animLvl val="lvl"/>
          <dgm:resizeHandles val="exact"/>
        </dgm:presLayoutVars>
      </dgm:prSet>
      <dgm:spPr/>
    </dgm:pt>
    <dgm:pt modelId="{5A3DCA4B-5F1D-4D18-88DE-18241C51696E}" type="pres">
      <dgm:prSet presAssocID="{25E9D919-3393-4609-BB7E-11DC95347272}" presName="parentText" presStyleLbl="node1" presStyleIdx="0" presStyleCnt="3">
        <dgm:presLayoutVars>
          <dgm:chMax val="0"/>
          <dgm:bulletEnabled val="1"/>
        </dgm:presLayoutVars>
      </dgm:prSet>
      <dgm:spPr/>
    </dgm:pt>
    <dgm:pt modelId="{4E13F2EC-A17A-43A3-87EC-710EEE0E246D}" type="pres">
      <dgm:prSet presAssocID="{B2B53D69-53CE-48BA-86E7-32F26B98FC9B}" presName="spacer" presStyleCnt="0"/>
      <dgm:spPr/>
    </dgm:pt>
    <dgm:pt modelId="{792AE4FC-BAE5-45FA-B5D4-88CC8492D37A}" type="pres">
      <dgm:prSet presAssocID="{65006ACB-D51C-434E-9BE4-62A226612AA4}" presName="parentText" presStyleLbl="node1" presStyleIdx="1" presStyleCnt="3">
        <dgm:presLayoutVars>
          <dgm:chMax val="0"/>
          <dgm:bulletEnabled val="1"/>
        </dgm:presLayoutVars>
      </dgm:prSet>
      <dgm:spPr/>
    </dgm:pt>
    <dgm:pt modelId="{E09D95F5-7CA5-4FD7-8646-23B846210076}" type="pres">
      <dgm:prSet presAssocID="{0EEDC037-DB19-4BE3-B28E-EEDD17F2328D}" presName="spacer" presStyleCnt="0"/>
      <dgm:spPr/>
    </dgm:pt>
    <dgm:pt modelId="{D8650D10-3599-42B3-8C21-5500A2220EFE}" type="pres">
      <dgm:prSet presAssocID="{5F8C12E5-498B-4483-942C-6F1D6837CFF4}" presName="parentText" presStyleLbl="node1" presStyleIdx="2" presStyleCnt="3">
        <dgm:presLayoutVars>
          <dgm:chMax val="0"/>
          <dgm:bulletEnabled val="1"/>
        </dgm:presLayoutVars>
      </dgm:prSet>
      <dgm:spPr/>
    </dgm:pt>
  </dgm:ptLst>
  <dgm:cxnLst>
    <dgm:cxn modelId="{A11F9965-716B-4CD4-B91D-CBAB499DB0EB}" srcId="{2C0CDFF8-2A5D-4254-BAA8-47FB653C31C2}" destId="{65006ACB-D51C-434E-9BE4-62A226612AA4}" srcOrd="1" destOrd="0" parTransId="{A4D94CC9-47D4-49F7-B151-30E7E1A0A151}" sibTransId="{0EEDC037-DB19-4BE3-B28E-EEDD17F2328D}"/>
    <dgm:cxn modelId="{97F3706D-07D3-4BD5-8FF1-31A85DC0AACB}" srcId="{2C0CDFF8-2A5D-4254-BAA8-47FB653C31C2}" destId="{5F8C12E5-498B-4483-942C-6F1D6837CFF4}" srcOrd="2" destOrd="0" parTransId="{C6C98EFA-6D7F-492D-A5A0-064DC646F067}" sibTransId="{5FF787C8-C6DC-492A-AC1F-A7DA0353F56E}"/>
    <dgm:cxn modelId="{8CD3AE8B-0886-4FF7-A9C8-0D42D5E9FDBA}" type="presOf" srcId="{65006ACB-D51C-434E-9BE4-62A226612AA4}" destId="{792AE4FC-BAE5-45FA-B5D4-88CC8492D37A}" srcOrd="0" destOrd="0" presId="urn:microsoft.com/office/officeart/2005/8/layout/vList2"/>
    <dgm:cxn modelId="{06AED18D-6FE1-4132-9AE2-F720FBDC17CF}" type="presOf" srcId="{25E9D919-3393-4609-BB7E-11DC95347272}" destId="{5A3DCA4B-5F1D-4D18-88DE-18241C51696E}" srcOrd="0" destOrd="0" presId="urn:microsoft.com/office/officeart/2005/8/layout/vList2"/>
    <dgm:cxn modelId="{3D0012A2-D73E-4B00-847D-1175022D379D}" type="presOf" srcId="{5F8C12E5-498B-4483-942C-6F1D6837CFF4}" destId="{D8650D10-3599-42B3-8C21-5500A2220EFE}" srcOrd="0" destOrd="0" presId="urn:microsoft.com/office/officeart/2005/8/layout/vList2"/>
    <dgm:cxn modelId="{4FA82FE8-4513-4CCB-A563-C415905D59C2}" type="presOf" srcId="{2C0CDFF8-2A5D-4254-BAA8-47FB653C31C2}" destId="{17F41716-AAC6-42B8-AB1B-BDFC6FCDA654}" srcOrd="0" destOrd="0" presId="urn:microsoft.com/office/officeart/2005/8/layout/vList2"/>
    <dgm:cxn modelId="{591564F4-58FC-45E8-9A28-AF161201108B}" srcId="{2C0CDFF8-2A5D-4254-BAA8-47FB653C31C2}" destId="{25E9D919-3393-4609-BB7E-11DC95347272}" srcOrd="0" destOrd="0" parTransId="{F65034BA-8625-462D-9395-00D187E2EBBE}" sibTransId="{B2B53D69-53CE-48BA-86E7-32F26B98FC9B}"/>
    <dgm:cxn modelId="{5473D726-7042-4B26-9280-9963EFC03871}" type="presParOf" srcId="{17F41716-AAC6-42B8-AB1B-BDFC6FCDA654}" destId="{5A3DCA4B-5F1D-4D18-88DE-18241C51696E}" srcOrd="0" destOrd="0" presId="urn:microsoft.com/office/officeart/2005/8/layout/vList2"/>
    <dgm:cxn modelId="{69773DBF-5B8E-43B3-9122-AB1A26D946C6}" type="presParOf" srcId="{17F41716-AAC6-42B8-AB1B-BDFC6FCDA654}" destId="{4E13F2EC-A17A-43A3-87EC-710EEE0E246D}" srcOrd="1" destOrd="0" presId="urn:microsoft.com/office/officeart/2005/8/layout/vList2"/>
    <dgm:cxn modelId="{1B2D90DC-C1DD-4930-8C03-86B799FE7D01}" type="presParOf" srcId="{17F41716-AAC6-42B8-AB1B-BDFC6FCDA654}" destId="{792AE4FC-BAE5-45FA-B5D4-88CC8492D37A}" srcOrd="2" destOrd="0" presId="urn:microsoft.com/office/officeart/2005/8/layout/vList2"/>
    <dgm:cxn modelId="{148ADE45-DDF9-4B02-AAFC-ED4C4437EEE1}" type="presParOf" srcId="{17F41716-AAC6-42B8-AB1B-BDFC6FCDA654}" destId="{E09D95F5-7CA5-4FD7-8646-23B846210076}" srcOrd="3" destOrd="0" presId="urn:microsoft.com/office/officeart/2005/8/layout/vList2"/>
    <dgm:cxn modelId="{D31857D9-1F45-4E72-8B8F-25E837A4A44C}" type="presParOf" srcId="{17F41716-AAC6-42B8-AB1B-BDFC6FCDA654}" destId="{D8650D10-3599-42B3-8C21-5500A2220EF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DCA4B-5F1D-4D18-88DE-18241C51696E}">
      <dsp:nvSpPr>
        <dsp:cNvPr id="0" name=""/>
        <dsp:cNvSpPr/>
      </dsp:nvSpPr>
      <dsp:spPr>
        <a:xfrm>
          <a:off x="0" y="14076"/>
          <a:ext cx="5916643" cy="159471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EEG β-band rhythms underlie sensorimotor functions in real and imagined movement.</a:t>
          </a:r>
        </a:p>
      </dsp:txBody>
      <dsp:txXfrm>
        <a:off x="77847" y="91923"/>
        <a:ext cx="5760949" cy="1439016"/>
      </dsp:txXfrm>
    </dsp:sp>
    <dsp:sp modelId="{792AE4FC-BAE5-45FA-B5D4-88CC8492D37A}">
      <dsp:nvSpPr>
        <dsp:cNvPr id="0" name=""/>
        <dsp:cNvSpPr/>
      </dsp:nvSpPr>
      <dsp:spPr>
        <a:xfrm>
          <a:off x="0" y="1692306"/>
          <a:ext cx="5916643" cy="159471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Motor imagery BCIs suffer from lower accuracy compared to execution paradigms.</a:t>
          </a:r>
        </a:p>
      </dsp:txBody>
      <dsp:txXfrm>
        <a:off x="77847" y="1770153"/>
        <a:ext cx="5760949" cy="1439016"/>
      </dsp:txXfrm>
    </dsp:sp>
    <dsp:sp modelId="{D8650D10-3599-42B3-8C21-5500A2220EFE}">
      <dsp:nvSpPr>
        <dsp:cNvPr id="0" name=""/>
        <dsp:cNvSpPr/>
      </dsp:nvSpPr>
      <dsp:spPr>
        <a:xfrm>
          <a:off x="0" y="3370537"/>
          <a:ext cx="5916643" cy="159471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Understanding execution vs. imagery synchrony can improve neurorehabilitation and BCIs.</a:t>
          </a:r>
        </a:p>
      </dsp:txBody>
      <dsp:txXfrm>
        <a:off x="77847" y="3448384"/>
        <a:ext cx="5760949" cy="143901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www.ncbi.nlm.nih.gov/pubmed/1518887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88825"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308" y="551962"/>
            <a:ext cx="10996208"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23603" y="850722"/>
            <a:ext cx="9141618" cy="3274592"/>
          </a:xfrm>
        </p:spPr>
        <p:txBody>
          <a:bodyPr anchor="ctr">
            <a:normAutofit/>
          </a:bodyPr>
          <a:lstStyle/>
          <a:p>
            <a:pPr>
              <a:lnSpc>
                <a:spcPct val="90000"/>
              </a:lnSpc>
            </a:pPr>
            <a:r>
              <a:rPr lang="en-US" sz="5500" dirty="0"/>
              <a:t>Beta Phase Synchronization Differences Between</a:t>
            </a:r>
          </a:p>
          <a:p>
            <a:pPr>
              <a:lnSpc>
                <a:spcPct val="90000"/>
              </a:lnSpc>
            </a:pPr>
            <a:r>
              <a:rPr lang="en-US" sz="5500" dirty="0"/>
              <a:t>Motor Execution and Imagery</a:t>
            </a:r>
          </a:p>
        </p:txBody>
      </p:sp>
      <p:sp>
        <p:nvSpPr>
          <p:cNvPr id="3" name="Subtitle 2"/>
          <p:cNvSpPr>
            <a:spLocks noGrp="1"/>
          </p:cNvSpPr>
          <p:nvPr>
            <p:ph type="subTitle" idx="1"/>
          </p:nvPr>
        </p:nvSpPr>
        <p:spPr>
          <a:xfrm>
            <a:off x="2896266" y="5309510"/>
            <a:ext cx="6233350" cy="1142087"/>
          </a:xfrm>
        </p:spPr>
        <p:txBody>
          <a:bodyPr anchor="ctr">
            <a:noAutofit/>
          </a:bodyPr>
          <a:lstStyle/>
          <a:p>
            <a:pPr>
              <a:lnSpc>
                <a:spcPct val="90000"/>
              </a:lnSpc>
            </a:pPr>
            <a:r>
              <a:rPr lang="en-US" sz="1400" b="1" dirty="0" err="1">
                <a:solidFill>
                  <a:schemeClr val="tx1"/>
                </a:solidFill>
              </a:rPr>
              <a:t>Charith</a:t>
            </a:r>
            <a:r>
              <a:rPr lang="en-US" sz="1400" b="1" dirty="0">
                <a:solidFill>
                  <a:schemeClr val="tx1"/>
                </a:solidFill>
              </a:rPr>
              <a:t> Sai Sathvik Ale, Mounish Kumar </a:t>
            </a:r>
            <a:r>
              <a:rPr lang="en-US" sz="1400" b="1" dirty="0" err="1">
                <a:solidFill>
                  <a:schemeClr val="tx1"/>
                </a:solidFill>
              </a:rPr>
              <a:t>Marati</a:t>
            </a:r>
            <a:endParaRPr lang="en-US" sz="1400" b="1" dirty="0">
              <a:solidFill>
                <a:schemeClr val="tx1"/>
              </a:solidFill>
            </a:endParaRPr>
          </a:p>
          <a:p>
            <a:pPr>
              <a:lnSpc>
                <a:spcPct val="90000"/>
              </a:lnSpc>
            </a:pPr>
            <a:r>
              <a:rPr lang="en-US" sz="1400" b="1" dirty="0">
                <a:solidFill>
                  <a:schemeClr val="tx1"/>
                </a:solidFill>
              </a:rPr>
              <a:t>Department of Electrical and Computer Engineering, </a:t>
            </a:r>
          </a:p>
          <a:p>
            <a:pPr>
              <a:lnSpc>
                <a:spcPct val="90000"/>
              </a:lnSpc>
            </a:pPr>
            <a:r>
              <a:rPr lang="en-US" sz="1400" b="1" dirty="0">
                <a:solidFill>
                  <a:schemeClr val="tx1"/>
                </a:solidFill>
              </a:rPr>
              <a:t>University of Alabama at Birmingham</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308" y="6354708"/>
            <a:ext cx="10997368"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026" name="Picture 2" descr="UAB Logo PNG Transparent – Brands Logos">
            <a:extLst>
              <a:ext uri="{FF2B5EF4-FFF2-40B4-BE49-F238E27FC236}">
                <a16:creationId xmlns:a16="http://schemas.microsoft.com/office/drawing/2014/main" id="{285EF712-6FAD-3656-02F0-5F46688BF9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149" y="5170511"/>
            <a:ext cx="1677076" cy="1677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4897" y="1463040"/>
            <a:ext cx="3795317" cy="2690949"/>
          </a:xfrm>
        </p:spPr>
        <p:txBody>
          <a:bodyPr anchor="t">
            <a:normAutofit/>
          </a:bodyPr>
          <a:lstStyle/>
          <a:p>
            <a:r>
              <a:rPr lang="en-IN" sz="4800" dirty="0"/>
              <a:t>OUTLINE</a:t>
            </a:r>
            <a:endParaRPr lang="en-US" sz="4800" dirty="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12" y="4415246"/>
            <a:ext cx="1197921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2369" y="587829"/>
            <a:ext cx="6503606"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654745" y="1463039"/>
            <a:ext cx="5540943" cy="4300447"/>
          </a:xfrm>
        </p:spPr>
        <p:txBody>
          <a:bodyPr anchor="t">
            <a:normAutofit/>
          </a:bodyPr>
          <a:lstStyle/>
          <a:p>
            <a:endParaRPr lang="en-US" sz="2200" dirty="0"/>
          </a:p>
          <a:p>
            <a:r>
              <a:rPr lang="en-US" sz="2200" dirty="0"/>
              <a:t>Motivation</a:t>
            </a:r>
          </a:p>
          <a:p>
            <a:r>
              <a:rPr lang="en-US" sz="2200" dirty="0"/>
              <a:t>Hypotheses</a:t>
            </a:r>
          </a:p>
          <a:p>
            <a:r>
              <a:rPr lang="en-US" sz="2200" dirty="0"/>
              <a:t>Comparison and Required Features</a:t>
            </a:r>
          </a:p>
          <a:p>
            <a:r>
              <a:rPr lang="en-US" sz="2200" dirty="0"/>
              <a:t>Proposed Concept</a:t>
            </a:r>
          </a:p>
          <a:p>
            <a:r>
              <a:rPr lang="en-US" sz="2200" dirty="0"/>
              <a:t>Methods &amp; Procedures</a:t>
            </a:r>
          </a:p>
          <a:p>
            <a:r>
              <a:rPr lang="en-US" sz="2200" dirty="0"/>
              <a:t>Simulation Results</a:t>
            </a:r>
          </a:p>
          <a:p>
            <a:r>
              <a:rPr lang="en-US" sz="2200" dirty="0"/>
              <a:t>Experimental Results</a:t>
            </a:r>
          </a:p>
          <a:p>
            <a:r>
              <a:rPr lang="en-US" sz="2200" dirty="0"/>
              <a:t>Conclusion and Future Work</a:t>
            </a:r>
          </a:p>
          <a:p>
            <a:r>
              <a:rPr lang="en-US" sz="2200" dirty="0"/>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4897" y="1097280"/>
            <a:ext cx="3795317" cy="4666207"/>
          </a:xfrm>
        </p:spPr>
        <p:txBody>
          <a:bodyPr anchor="ctr">
            <a:normAutofit/>
          </a:bodyPr>
          <a:lstStyle/>
          <a:p>
            <a:r>
              <a:rPr lang="en-IN" sz="4800" dirty="0"/>
              <a:t>MOTIVATION</a:t>
            </a:r>
            <a:endParaRPr lang="en-US" sz="4800" dirty="0"/>
          </a:p>
        </p:txBody>
      </p:sp>
      <p:grpSp>
        <p:nvGrpSpPr>
          <p:cNvPr id="11" name="Group 10">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54" y="5945955"/>
            <a:ext cx="12106244" cy="525780"/>
            <a:chOff x="82576" y="5945955"/>
            <a:chExt cx="12109423" cy="525780"/>
          </a:xfrm>
        </p:grpSpPr>
        <p:sp>
          <p:nvSpPr>
            <p:cNvPr id="12" name="Rectangle 11">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2369" y="587829"/>
            <a:ext cx="6503606"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FFA40AE-E66F-5D29-ED2F-9F8EEA7F95D6}"/>
              </a:ext>
            </a:extLst>
          </p:cNvPr>
          <p:cNvGraphicFramePr>
            <a:graphicFrameLocks noGrp="1"/>
          </p:cNvGraphicFramePr>
          <p:nvPr>
            <p:ph idx="1"/>
            <p:extLst>
              <p:ext uri="{D42A27DB-BD31-4B8C-83A1-F6EECF244321}">
                <p14:modId xmlns:p14="http://schemas.microsoft.com/office/powerpoint/2010/main" val="887123185"/>
              </p:ext>
            </p:extLst>
          </p:nvPr>
        </p:nvGraphicFramePr>
        <p:xfrm>
          <a:off x="5430121" y="1014153"/>
          <a:ext cx="5916643" cy="4979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82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520227"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604" y="350196"/>
            <a:ext cx="4645694" cy="1624520"/>
          </a:xfrm>
        </p:spPr>
        <p:txBody>
          <a:bodyPr anchor="ctr">
            <a:normAutofit/>
          </a:bodyPr>
          <a:lstStyle/>
          <a:p>
            <a:pPr>
              <a:buNone/>
            </a:pPr>
            <a:r>
              <a:rPr lang="en-US" sz="4000" b="1" dirty="0"/>
              <a:t>Hypotheses</a:t>
            </a:r>
            <a:endParaRPr lang="en-US" sz="4000" dirty="0"/>
          </a:p>
        </p:txBody>
      </p:sp>
      <p:sp>
        <p:nvSpPr>
          <p:cNvPr id="3" name="Content Placeholder 2"/>
          <p:cNvSpPr>
            <a:spLocks noGrp="1"/>
          </p:cNvSpPr>
          <p:nvPr>
            <p:ph idx="1"/>
          </p:nvPr>
        </p:nvSpPr>
        <p:spPr>
          <a:xfrm>
            <a:off x="761603" y="2743200"/>
            <a:ext cx="4645695" cy="3613149"/>
          </a:xfrm>
        </p:spPr>
        <p:txBody>
          <a:bodyPr anchor="ctr">
            <a:normAutofit/>
          </a:bodyPr>
          <a:lstStyle/>
          <a:p>
            <a:pPr>
              <a:lnSpc>
                <a:spcPct val="90000"/>
              </a:lnSpc>
            </a:pPr>
            <a:endParaRPr lang="en-US" sz="2000" dirty="0"/>
          </a:p>
          <a:p>
            <a:pPr>
              <a:buFont typeface="+mj-lt"/>
              <a:buAutoNum type="arabicPeriod"/>
            </a:pPr>
            <a:r>
              <a:rPr lang="en-US" sz="1800" b="1" dirty="0"/>
              <a:t>Execution vs. Imagery Strength</a:t>
            </a:r>
            <a:br>
              <a:rPr lang="en-US" sz="1800" dirty="0"/>
            </a:br>
            <a:r>
              <a:rPr lang="en-US" sz="1800" dirty="0"/>
              <a:t>Real movements (R03/R05) will produce higher β-band phase-locking (PLV) than motor imagery (R04/R06).</a:t>
            </a:r>
          </a:p>
          <a:p>
            <a:pPr>
              <a:buFont typeface="+mj-lt"/>
              <a:buAutoNum type="arabicPeriod"/>
            </a:pPr>
            <a:r>
              <a:rPr lang="en-US" sz="1800" b="1" dirty="0"/>
              <a:t>Connectivity Divergence</a:t>
            </a:r>
            <a:br>
              <a:rPr lang="en-US" sz="1800" dirty="0"/>
            </a:br>
            <a:r>
              <a:rPr lang="en-US" sz="1800" dirty="0"/>
              <a:t>The phase-based connectivity patterns (PLV matrices and their dynamics) will differ significantly between execution and imagery.</a:t>
            </a:r>
          </a:p>
        </p:txBody>
      </p:sp>
      <p:pic>
        <p:nvPicPr>
          <p:cNvPr id="6" name="Picture 5" descr="A diagram of a brain&#10;&#10;AI-generated content may be incorrect.">
            <a:extLst>
              <a:ext uri="{FF2B5EF4-FFF2-40B4-BE49-F238E27FC236}">
                <a16:creationId xmlns:a16="http://schemas.microsoft.com/office/drawing/2014/main" id="{B47EC1ED-271B-A706-B9F7-E5BC0C13AFC1}"/>
              </a:ext>
            </a:extLst>
          </p:cNvPr>
          <p:cNvPicPr>
            <a:picLocks noChangeAspect="1"/>
          </p:cNvPicPr>
          <p:nvPr/>
        </p:nvPicPr>
        <p:blipFill>
          <a:blip r:embed="rId2"/>
          <a:stretch>
            <a:fillRect/>
          </a:stretch>
        </p:blipFill>
        <p:spPr>
          <a:xfrm>
            <a:off x="6460303" y="1141828"/>
            <a:ext cx="5309214" cy="53092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216597"/>
            <a:ext cx="731327"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912" y="613954"/>
            <a:ext cx="10904646"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359" y="809898"/>
            <a:ext cx="9940126" cy="1554480"/>
          </a:xfrm>
        </p:spPr>
        <p:txBody>
          <a:bodyPr anchor="ctr">
            <a:normAutofit/>
          </a:bodyPr>
          <a:lstStyle/>
          <a:p>
            <a:r>
              <a:rPr lang="en-US" sz="4800" dirty="0"/>
              <a:t>Comparison</a:t>
            </a:r>
            <a:br>
              <a:rPr lang="en-US" sz="4800" dirty="0"/>
            </a:br>
            <a:endParaRPr lang="en-US" sz="4800" dirty="0"/>
          </a:p>
        </p:txBody>
      </p:sp>
      <p:sp>
        <p:nvSpPr>
          <p:cNvPr id="3" name="Content Placeholder 2"/>
          <p:cNvSpPr>
            <a:spLocks noGrp="1"/>
          </p:cNvSpPr>
          <p:nvPr>
            <p:ph idx="1"/>
          </p:nvPr>
        </p:nvSpPr>
        <p:spPr>
          <a:xfrm>
            <a:off x="1044755" y="3017522"/>
            <a:ext cx="9938730" cy="3124658"/>
          </a:xfrm>
        </p:spPr>
        <p:txBody>
          <a:bodyPr anchor="ctr">
            <a:normAutofit/>
          </a:bodyPr>
          <a:lstStyle/>
          <a:p>
            <a:endParaRPr lang="en-US" sz="2400"/>
          </a:p>
          <a:p>
            <a:r>
              <a:rPr lang="en-US" sz="2400"/>
              <a:t>Within-subject design across four conditions: R03 (uni exec), R04 (uni imag), R05 (bi exec), R06 (bi imag).</a:t>
            </a:r>
          </a:p>
          <a:p>
            <a:r>
              <a:rPr lang="en-US" sz="2400"/>
              <a:t>Custom ICA pipeline to isolate motor sources.</a:t>
            </a:r>
          </a:p>
          <a:p>
            <a:r>
              <a:rPr lang="en-US" sz="2400"/>
              <a:t>Hilbert-transform-based phase extraction and PLV computation.</a:t>
            </a:r>
          </a:p>
          <a:p>
            <a:r>
              <a:rPr lang="en-US" sz="2400"/>
              <a:t>Time-resolved PLV and cross-run PLV for dynamic and cross-condition analysis.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7981" y="6485313"/>
            <a:ext cx="10512862"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427" y="386930"/>
            <a:ext cx="9234295" cy="1188950"/>
          </a:xfrm>
        </p:spPr>
        <p:txBody>
          <a:bodyPr anchor="b">
            <a:normAutofit/>
          </a:bodyPr>
          <a:lstStyle/>
          <a:p>
            <a:r>
              <a:rPr lang="en-US" sz="5300"/>
              <a:t>Proposed Concept</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1169201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0397"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93453" y="2599509"/>
            <a:ext cx="10141026" cy="3435531"/>
          </a:xfrm>
        </p:spPr>
        <p:txBody>
          <a:bodyPr anchor="ctr">
            <a:normAutofit/>
          </a:bodyPr>
          <a:lstStyle/>
          <a:p>
            <a:endParaRPr lang="en-US" sz="2400"/>
          </a:p>
          <a:p>
            <a:r>
              <a:rPr lang="en-US" sz="2400"/>
              <a:t>Band-pass filter EEG (10–30 Hz), remove artifacts, common average reference.</a:t>
            </a:r>
          </a:p>
          <a:p>
            <a:r>
              <a:rPr lang="en-US" sz="2400"/>
              <a:t>Apply ICA: data centering → whitening (covariance eigen-decomp) → SVD for ICs.</a:t>
            </a:r>
          </a:p>
          <a:p>
            <a:r>
              <a:rPr lang="en-US" sz="2400"/>
              <a:t>Extract phase via Hilbert transform; compute pairwise PLV matrices.</a:t>
            </a:r>
          </a:p>
          <a:p>
            <a:r>
              <a:rPr lang="en-US" sz="2400"/>
              <a:t>Aggregate: mean PLV per run, time-resolved PLV (0.5s windows), cross-run PLV comparisons.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427" y="386930"/>
            <a:ext cx="9234295" cy="1188950"/>
          </a:xfrm>
        </p:spPr>
        <p:txBody>
          <a:bodyPr anchor="b">
            <a:normAutofit/>
          </a:bodyPr>
          <a:lstStyle/>
          <a:p>
            <a:r>
              <a:rPr lang="en-GB" sz="5300" dirty="0"/>
              <a:t>Methods &amp; Procedures</a:t>
            </a:r>
          </a:p>
        </p:txBody>
      </p:sp>
      <p:grpSp>
        <p:nvGrpSpPr>
          <p:cNvPr id="20" name="Group 1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11692013" cy="782176"/>
            <a:chOff x="-2" y="1998368"/>
            <a:chExt cx="11695083" cy="782176"/>
          </a:xfrm>
        </p:grpSpPr>
        <p:sp>
          <p:nvSpPr>
            <p:cNvPr id="21" name="Rectangle 2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0397"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93453" y="2599509"/>
            <a:ext cx="10141026" cy="3435531"/>
          </a:xfrm>
        </p:spPr>
        <p:txBody>
          <a:bodyPr anchor="ctr">
            <a:normAutofit/>
          </a:bodyPr>
          <a:lstStyle/>
          <a:p>
            <a:endParaRPr lang="en-US" sz="2400" dirty="0"/>
          </a:p>
          <a:p>
            <a:r>
              <a:rPr lang="en-US" sz="2400" dirty="0"/>
              <a:t>Subjects: 10 healthy adults (5F/5M), 22–34 years.</a:t>
            </a:r>
          </a:p>
          <a:p>
            <a:r>
              <a:rPr lang="en-US" sz="2400" dirty="0"/>
              <a:t>4 runs per subject, 2-minute each, 64-channel EEG at 160 Hz.</a:t>
            </a:r>
          </a:p>
          <a:p>
            <a:r>
              <a:rPr lang="en-US" sz="2400" dirty="0"/>
              <a:t>Permutation tests (n=1000) for exec–imagery PLV differences, FDR corrected.</a:t>
            </a:r>
          </a:p>
          <a:p>
            <a:r>
              <a:rPr lang="en-US" sz="2400" dirty="0"/>
              <a:t>Cross-run PLV: R03↔R04, R05↔R06, R03↔R05, R04↔R06 for network similarity.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54FE83-AA87-229A-718B-ED4B8946925E}"/>
              </a:ext>
            </a:extLst>
          </p:cNvPr>
          <p:cNvSpPr>
            <a:spLocks noGrp="1"/>
          </p:cNvSpPr>
          <p:nvPr>
            <p:ph type="title"/>
          </p:nvPr>
        </p:nvSpPr>
        <p:spPr>
          <a:xfrm>
            <a:off x="644896" y="525982"/>
            <a:ext cx="4281867" cy="1200361"/>
          </a:xfrm>
        </p:spPr>
        <p:txBody>
          <a:bodyPr vert="horz" lIns="91440" tIns="45720" rIns="91440" bIns="45720" rtlCol="0" anchor="b">
            <a:normAutofit/>
          </a:bodyPr>
          <a:lstStyle/>
          <a:p>
            <a:pPr algn="l" defTabSz="914400">
              <a:lnSpc>
                <a:spcPct val="90000"/>
              </a:lnSpc>
            </a:pPr>
            <a:r>
              <a:rPr lang="en-US" sz="3600" kern="1200">
                <a:solidFill>
                  <a:schemeClr val="tx1"/>
                </a:solidFill>
                <a:latin typeface="+mj-lt"/>
                <a:ea typeface="+mj-ea"/>
                <a:cs typeface="+mj-cs"/>
              </a:rPr>
              <a:t>HeatMaps</a:t>
            </a:r>
          </a:p>
        </p:txBody>
      </p:sp>
      <p:sp>
        <p:nvSpPr>
          <p:cNvPr id="14" name="Rectangle 1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372" y="1944913"/>
            <a:ext cx="4022312"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DD2B5C1-EC86-1F92-4E78-74B52A2677A7}"/>
              </a:ext>
            </a:extLst>
          </p:cNvPr>
          <p:cNvSpPr txBox="1"/>
          <p:nvPr/>
        </p:nvSpPr>
        <p:spPr>
          <a:xfrm>
            <a:off x="644898" y="2031101"/>
            <a:ext cx="4281868" cy="3511943"/>
          </a:xfrm>
          <a:prstGeom prst="rect">
            <a:avLst/>
          </a:prstGeom>
        </p:spPr>
        <p:txBody>
          <a:bodyPr vert="horz" lIns="91440" tIns="45720" rIns="91440" bIns="45720" rtlCol="0" anchor="ctr">
            <a:normAutofit/>
          </a:bodyPr>
          <a:lstStyle/>
          <a:p>
            <a:pPr marL="285750" indent="-228600" defTabSz="914400">
              <a:lnSpc>
                <a:spcPct val="90000"/>
              </a:lnSpc>
              <a:spcAft>
                <a:spcPts val="600"/>
              </a:spcAft>
              <a:buFont typeface="Arial" panose="020B0604020202020204" pitchFamily="34" charset="0"/>
              <a:buChar char="•"/>
            </a:pPr>
            <a:r>
              <a:rPr lang="en-US" sz="1500" dirty="0"/>
              <a:t>There’s a strong, trivial self-coupling (diagonal).</a:t>
            </a:r>
          </a:p>
          <a:p>
            <a:pPr marL="285750" indent="-228600" defTabSz="914400">
              <a:lnSpc>
                <a:spcPct val="90000"/>
              </a:lnSpc>
              <a:spcAft>
                <a:spcPts val="600"/>
              </a:spcAft>
              <a:buFont typeface="Arial" panose="020B0604020202020204" pitchFamily="34" charset="0"/>
              <a:buChar char="•"/>
            </a:pPr>
            <a:r>
              <a:rPr lang="en-US" sz="1500" dirty="0"/>
              <a:t>Aside from that, the brain’s motor networks exhibit only moderate inter-component phase locking in the β-band, regardless of whether you’re actually moving or just imagining, and regardless of whether you move one hand or both.</a:t>
            </a:r>
          </a:p>
          <a:p>
            <a:pPr marL="285750" indent="-228600" defTabSz="914400">
              <a:lnSpc>
                <a:spcPct val="90000"/>
              </a:lnSpc>
              <a:spcAft>
                <a:spcPts val="600"/>
              </a:spcAft>
              <a:buFont typeface="Arial" panose="020B0604020202020204" pitchFamily="34" charset="0"/>
              <a:buChar char="•"/>
            </a:pPr>
            <a:r>
              <a:rPr lang="en-US" sz="1500" dirty="0"/>
              <a:t>Any small differences you saw in mean-PLV bar plots or permutation tests (e.g. R04 slightly higher than R03) are buried in these very faint off-diagonal color variations.</a:t>
            </a:r>
          </a:p>
          <a:p>
            <a:pPr marL="285750" indent="-228600" defTabSz="914400">
              <a:lnSpc>
                <a:spcPct val="90000"/>
              </a:lnSpc>
              <a:spcAft>
                <a:spcPts val="600"/>
              </a:spcAft>
              <a:buFont typeface="Arial" panose="020B0604020202020204" pitchFamily="34" charset="0"/>
              <a:buChar char="•"/>
            </a:pPr>
            <a:r>
              <a:rPr lang="en-US" sz="1500" dirty="0"/>
              <a:t>These average heatmaps visually confirm that </a:t>
            </a:r>
            <a:r>
              <a:rPr lang="en-US" sz="1500" b="1" dirty="0"/>
              <a:t>(a)</a:t>
            </a:r>
            <a:r>
              <a:rPr lang="en-US" sz="1500" dirty="0"/>
              <a:t> most true synchrony is the trivial diagonal, and </a:t>
            </a:r>
            <a:r>
              <a:rPr lang="en-US" sz="1500" b="1" dirty="0"/>
              <a:t>(b)</a:t>
            </a:r>
            <a:r>
              <a:rPr lang="en-US" sz="1500" dirty="0"/>
              <a:t> the non-trivial inter-IC synchrony is low—and broadly similar—across all four motor conditions.</a:t>
            </a:r>
          </a:p>
        </p:txBody>
      </p:sp>
      <p:sp>
        <p:nvSpPr>
          <p:cNvPr id="16" name="Rectangle 1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81" y="6053380"/>
            <a:ext cx="740664" cy="1540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3289" y="216742"/>
            <a:ext cx="740664" cy="118304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309" y="354959"/>
            <a:ext cx="6183362"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54DDBBB4-F4CF-95AD-9F4F-D8C3707C269F}"/>
              </a:ext>
            </a:extLst>
          </p:cNvPr>
          <p:cNvPicPr>
            <a:picLocks noGrp="1" noChangeAspect="1"/>
          </p:cNvPicPr>
          <p:nvPr>
            <p:ph idx="1"/>
          </p:nvPr>
        </p:nvPicPr>
        <p:blipFill>
          <a:blip r:embed="rId2"/>
          <a:stretch>
            <a:fillRect/>
          </a:stretch>
        </p:blipFill>
        <p:spPr>
          <a:xfrm>
            <a:off x="5986178" y="956445"/>
            <a:ext cx="5626553" cy="4712239"/>
          </a:xfrm>
          <a:prstGeom prst="rect">
            <a:avLst/>
          </a:prstGeom>
        </p:spPr>
      </p:pic>
    </p:spTree>
    <p:extLst>
      <p:ext uri="{BB962C8B-B14F-4D97-AF65-F5344CB8AC3E}">
        <p14:creationId xmlns:p14="http://schemas.microsoft.com/office/powerpoint/2010/main" val="3762415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406" y="856180"/>
            <a:ext cx="5278033" cy="1128068"/>
          </a:xfrm>
        </p:spPr>
        <p:txBody>
          <a:bodyPr anchor="ctr">
            <a:normAutofit/>
          </a:bodyPr>
          <a:lstStyle/>
          <a:p>
            <a:pPr>
              <a:lnSpc>
                <a:spcPct val="90000"/>
              </a:lnSpc>
            </a:pPr>
            <a:r>
              <a:rPr lang="en-US" sz="3700" dirty="0"/>
              <a:t>Mean &amp; Cross-Run PLV</a:t>
            </a:r>
          </a:p>
        </p:txBody>
      </p:sp>
      <p:grpSp>
        <p:nvGrpSpPr>
          <p:cNvPr id="50" name="Group 49">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02" cy="673460"/>
            <a:chOff x="0" y="823811"/>
            <a:chExt cx="355196" cy="673460"/>
          </a:xfrm>
        </p:grpSpPr>
        <p:sp>
          <p:nvSpPr>
            <p:cNvPr id="51" name="Rectangle 5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Rectangle 53">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911" y="2123821"/>
            <a:ext cx="4973771"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0565" y="2330505"/>
            <a:ext cx="5276691" cy="3979585"/>
          </a:xfrm>
        </p:spPr>
        <p:txBody>
          <a:bodyPr anchor="ctr">
            <a:normAutofit/>
          </a:bodyPr>
          <a:lstStyle/>
          <a:p>
            <a:endParaRPr lang="en-US" sz="2000"/>
          </a:p>
          <a:p>
            <a:r>
              <a:rPr lang="en-US" sz="2000"/>
              <a:t>Unilateral tasks: 4/10 subjects significant exec–imag PLV differences (mean p=0.24).</a:t>
            </a:r>
          </a:p>
          <a:p>
            <a:r>
              <a:rPr lang="en-US" sz="2000"/>
              <a:t>Bilateral tasks: 7/10 subjects significant (mean p=0.18).</a:t>
            </a:r>
          </a:p>
          <a:p>
            <a:r>
              <a:rPr lang="en-US" sz="2000"/>
              <a:t>Mean PLV: R03=0.0291, R04=0.0303, R05=0.0315, R06=0.0308.</a:t>
            </a:r>
          </a:p>
          <a:p>
            <a:r>
              <a:rPr lang="en-US" sz="2000"/>
              <a:t>Cross-run PLV ~0.016–0.018 indicates moderate shared network structure.</a:t>
            </a:r>
          </a:p>
        </p:txBody>
      </p:sp>
      <p:sp>
        <p:nvSpPr>
          <p:cNvPr id="56" name="Rectangle 55">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4884" y="0"/>
            <a:ext cx="1493941"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7903" y="357447"/>
            <a:ext cx="4844226"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of blue bars&#10;&#10;AI-generated content may be incorrect.">
            <a:extLst>
              <a:ext uri="{FF2B5EF4-FFF2-40B4-BE49-F238E27FC236}">
                <a16:creationId xmlns:a16="http://schemas.microsoft.com/office/drawing/2014/main" id="{F12E00D6-A52C-63F8-F3C6-8B506443FD50}"/>
              </a:ext>
            </a:extLst>
          </p:cNvPr>
          <p:cNvPicPr>
            <a:picLocks noChangeAspect="1"/>
          </p:cNvPicPr>
          <p:nvPr/>
        </p:nvPicPr>
        <p:blipFill>
          <a:blip r:embed="rId2"/>
          <a:stretch>
            <a:fillRect/>
          </a:stretch>
        </p:blipFill>
        <p:spPr>
          <a:xfrm>
            <a:off x="7600552" y="581892"/>
            <a:ext cx="3358339" cy="2518756"/>
          </a:xfrm>
          <a:prstGeom prst="rect">
            <a:avLst/>
          </a:prstGeom>
        </p:spPr>
      </p:pic>
      <p:sp>
        <p:nvSpPr>
          <p:cNvPr id="60" name="Rectangle 59">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7903" y="3505479"/>
            <a:ext cx="4844226"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graph of blue bars&#10;&#10;AI-generated content may be incorrect.">
            <a:extLst>
              <a:ext uri="{FF2B5EF4-FFF2-40B4-BE49-F238E27FC236}">
                <a16:creationId xmlns:a16="http://schemas.microsoft.com/office/drawing/2014/main" id="{8050A363-8214-F5C0-2366-9313AF94D7A4}"/>
              </a:ext>
            </a:extLst>
          </p:cNvPr>
          <p:cNvPicPr>
            <a:picLocks noChangeAspect="1"/>
          </p:cNvPicPr>
          <p:nvPr/>
        </p:nvPicPr>
        <p:blipFill>
          <a:blip r:embed="rId3"/>
          <a:stretch>
            <a:fillRect/>
          </a:stretch>
        </p:blipFill>
        <p:spPr>
          <a:xfrm>
            <a:off x="7599620" y="3707894"/>
            <a:ext cx="3358339" cy="25187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406" y="856180"/>
            <a:ext cx="4559396" cy="1128068"/>
          </a:xfrm>
        </p:spPr>
        <p:txBody>
          <a:bodyPr anchor="ctr">
            <a:normAutofit/>
          </a:bodyPr>
          <a:lstStyle/>
          <a:p>
            <a:pPr>
              <a:lnSpc>
                <a:spcPct val="90000"/>
              </a:lnSpc>
            </a:pPr>
            <a:r>
              <a:rPr lang="en-US" sz="3700"/>
              <a:t>Results: Time-Resolved PLV</a:t>
            </a:r>
          </a:p>
        </p:txBody>
      </p:sp>
      <p:grpSp>
        <p:nvGrpSpPr>
          <p:cNvPr id="34" name="Group 3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02" cy="673460"/>
            <a:chOff x="0" y="823811"/>
            <a:chExt cx="355196" cy="673460"/>
          </a:xfrm>
        </p:grpSpPr>
        <p:sp>
          <p:nvSpPr>
            <p:cNvPr id="35" name="Rectangle 3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911" y="2090569"/>
            <a:ext cx="4296561"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0565" y="2330505"/>
            <a:ext cx="4558237" cy="3979585"/>
          </a:xfrm>
        </p:spPr>
        <p:txBody>
          <a:bodyPr anchor="ctr">
            <a:normAutofit/>
          </a:bodyPr>
          <a:lstStyle/>
          <a:p>
            <a:endParaRPr lang="en-US" sz="2000"/>
          </a:p>
          <a:p>
            <a:r>
              <a:rPr lang="en-US" sz="2000"/>
              <a:t>Time-resolved PLV stable across runs; 0.5s windows.</a:t>
            </a:r>
          </a:p>
          <a:p>
            <a:r>
              <a:rPr lang="en-US" sz="2000"/>
              <a:t>Unilateral imagery led by +0.001, bilateral execution led by +0.0015.</a:t>
            </a:r>
          </a:p>
          <a:p>
            <a:r>
              <a:rPr lang="en-US" sz="2000"/>
              <a:t>Subtle PLV fluctuations align with task onset.</a:t>
            </a:r>
          </a:p>
        </p:txBody>
      </p:sp>
      <p:sp>
        <p:nvSpPr>
          <p:cNvPr id="40" name="Rectangle 3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4884" y="0"/>
            <a:ext cx="1493941"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4329" y="513853"/>
            <a:ext cx="6007801"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graph of a graph showing different colored lines&#10;&#10;AI-generated content may be incorrect.">
            <a:extLst>
              <a:ext uri="{FF2B5EF4-FFF2-40B4-BE49-F238E27FC236}">
                <a16:creationId xmlns:a16="http://schemas.microsoft.com/office/drawing/2014/main" id="{97FCEAA5-7803-5178-5E55-FA881E59822D}"/>
              </a:ext>
            </a:extLst>
          </p:cNvPr>
          <p:cNvPicPr>
            <a:picLocks noChangeAspect="1"/>
          </p:cNvPicPr>
          <p:nvPr/>
        </p:nvPicPr>
        <p:blipFill>
          <a:blip r:embed="rId2"/>
          <a:srcRect l="8581" r="14070"/>
          <a:stretch/>
        </p:blipFill>
        <p:spPr>
          <a:xfrm>
            <a:off x="5976231" y="799352"/>
            <a:ext cx="5423997" cy="52592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82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8" name="Arc 2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28711" y="490882"/>
            <a:ext cx="2987899" cy="2987121"/>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37FCAC-BE3D-218C-620E-5A31D82A932A}"/>
              </a:ext>
            </a:extLst>
          </p:cNvPr>
          <p:cNvSpPr>
            <a:spLocks noGrp="1"/>
          </p:cNvSpPr>
          <p:nvPr>
            <p:ph type="title"/>
          </p:nvPr>
        </p:nvSpPr>
        <p:spPr>
          <a:xfrm>
            <a:off x="5893426" y="479493"/>
            <a:ext cx="5457417" cy="1325563"/>
          </a:xfrm>
        </p:spPr>
        <p:txBody>
          <a:bodyPr>
            <a:normAutofit/>
          </a:bodyPr>
          <a:lstStyle/>
          <a:p>
            <a:r>
              <a:rPr lang="en-IN" dirty="0"/>
              <a:t>Mean PLV Scatter</a:t>
            </a:r>
            <a:endParaRPr lang="en-US" dirty="0"/>
          </a:p>
        </p:txBody>
      </p:sp>
      <p:sp>
        <p:nvSpPr>
          <p:cNvPr id="29" name="Freeform: Shape 2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166"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Rectangle 1">
            <a:extLst>
              <a:ext uri="{FF2B5EF4-FFF2-40B4-BE49-F238E27FC236}">
                <a16:creationId xmlns:a16="http://schemas.microsoft.com/office/drawing/2014/main" id="{F3DC7D6B-9A42-7FE5-B958-54280AFE069E}"/>
              </a:ext>
            </a:extLst>
          </p:cNvPr>
          <p:cNvSpPr>
            <a:spLocks noGrp="1" noChangeArrowheads="1"/>
          </p:cNvSpPr>
          <p:nvPr>
            <p:ph idx="1"/>
          </p:nvPr>
        </p:nvSpPr>
        <p:spPr bwMode="auto">
          <a:xfrm>
            <a:off x="5893426" y="1984443"/>
            <a:ext cx="5457417" cy="41925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defTabSz="914400" eaLnBrk="0" fontAlgn="base" hangingPunct="0">
              <a:lnSpc>
                <a:spcPct val="90000"/>
              </a:lnSpc>
              <a:spcBef>
                <a:spcPct val="0"/>
              </a:spcBef>
              <a:spcAft>
                <a:spcPts val="600"/>
              </a:spcAft>
            </a:pPr>
            <a:r>
              <a:rPr kumimoji="0" lang="en-US" altLang="en-US" sz="1800" b="1" i="0" u="none" strike="noStrike" cap="none" normalizeH="0" baseline="0">
                <a:ln>
                  <a:noFill/>
                </a:ln>
                <a:effectLst/>
                <a:latin typeface="Arial" panose="020B0604020202020204" pitchFamily="34" charset="0"/>
              </a:rPr>
              <a:t>Each dot</a:t>
            </a:r>
            <a:r>
              <a:rPr kumimoji="0" lang="en-US" altLang="en-US" sz="1800" b="0" i="0" u="none" strike="noStrike" cap="none" normalizeH="0" baseline="0">
                <a:ln>
                  <a:noFill/>
                </a:ln>
                <a:effectLst/>
                <a:latin typeface="Arial" panose="020B0604020202020204" pitchFamily="34" charset="0"/>
              </a:rPr>
              <a:t> is one subject.</a:t>
            </a:r>
          </a:p>
          <a:p>
            <a:pPr defTabSz="914400" eaLnBrk="0" fontAlgn="base" hangingPunct="0">
              <a:lnSpc>
                <a:spcPct val="90000"/>
              </a:lnSpc>
              <a:spcBef>
                <a:spcPct val="0"/>
              </a:spcBef>
              <a:spcAft>
                <a:spcPts val="600"/>
              </a:spcAft>
            </a:pPr>
            <a:r>
              <a:rPr kumimoji="0" lang="en-US" altLang="en-US" sz="1800" b="1" i="0" u="none" strike="noStrike" cap="none" normalizeH="0" baseline="0">
                <a:ln>
                  <a:noFill/>
                </a:ln>
                <a:effectLst/>
                <a:latin typeface="Arial" panose="020B0604020202020204" pitchFamily="34" charset="0"/>
              </a:rPr>
              <a:t>X-axis</a:t>
            </a:r>
            <a:r>
              <a:rPr kumimoji="0" lang="en-US" altLang="en-US" sz="1800" b="0" i="0" u="none" strike="noStrike" cap="none" normalizeH="0" baseline="0">
                <a:ln>
                  <a:noFill/>
                </a:ln>
                <a:effectLst/>
                <a:latin typeface="Arial" panose="020B0604020202020204" pitchFamily="34" charset="0"/>
              </a:rPr>
              <a:t> is their mean β-band PLV during </a:t>
            </a:r>
            <a:r>
              <a:rPr kumimoji="0" lang="en-US" altLang="en-US" sz="1800" b="1" i="0" u="none" strike="noStrike" cap="none" normalizeH="0" baseline="0">
                <a:ln>
                  <a:noFill/>
                </a:ln>
                <a:effectLst/>
                <a:latin typeface="Arial" panose="020B0604020202020204" pitchFamily="34" charset="0"/>
              </a:rPr>
              <a:t>R03 (real unilateral)</a:t>
            </a:r>
            <a:r>
              <a:rPr kumimoji="0" lang="en-US" altLang="en-US" sz="1800" b="0" i="0" u="none" strike="noStrike" cap="none" normalizeH="0" baseline="0">
                <a:ln>
                  <a:noFill/>
                </a:ln>
                <a:effectLst/>
                <a:latin typeface="Arial" panose="020B0604020202020204" pitchFamily="34" charset="0"/>
              </a:rPr>
              <a:t>.</a:t>
            </a:r>
          </a:p>
          <a:p>
            <a:pPr defTabSz="914400" eaLnBrk="0" fontAlgn="base" hangingPunct="0">
              <a:lnSpc>
                <a:spcPct val="90000"/>
              </a:lnSpc>
              <a:spcBef>
                <a:spcPct val="0"/>
              </a:spcBef>
              <a:spcAft>
                <a:spcPts val="600"/>
              </a:spcAft>
            </a:pPr>
            <a:r>
              <a:rPr kumimoji="0" lang="en-US" altLang="en-US" sz="1800" b="1" i="0" u="none" strike="noStrike" cap="none" normalizeH="0" baseline="0">
                <a:ln>
                  <a:noFill/>
                </a:ln>
                <a:effectLst/>
                <a:latin typeface="Arial" panose="020B0604020202020204" pitchFamily="34" charset="0"/>
              </a:rPr>
              <a:t>Y-axis</a:t>
            </a:r>
            <a:r>
              <a:rPr kumimoji="0" lang="en-US" altLang="en-US" sz="1800" b="0" i="0" u="none" strike="noStrike" cap="none" normalizeH="0" baseline="0">
                <a:ln>
                  <a:noFill/>
                </a:ln>
                <a:effectLst/>
                <a:latin typeface="Arial" panose="020B0604020202020204" pitchFamily="34" charset="0"/>
              </a:rPr>
              <a:t> is the mean PLV during </a:t>
            </a:r>
            <a:r>
              <a:rPr kumimoji="0" lang="en-US" altLang="en-US" sz="1800" b="1" i="0" u="none" strike="noStrike" cap="none" normalizeH="0" baseline="0">
                <a:ln>
                  <a:noFill/>
                </a:ln>
                <a:effectLst/>
                <a:latin typeface="Arial" panose="020B0604020202020204" pitchFamily="34" charset="0"/>
              </a:rPr>
              <a:t>R04 (imaginary unilateral)</a:t>
            </a:r>
            <a:r>
              <a:rPr kumimoji="0" lang="en-US" altLang="en-US" sz="1800" b="0" i="0" u="none" strike="noStrike" cap="none" normalizeH="0" baseline="0">
                <a:ln>
                  <a:noFill/>
                </a:ln>
                <a:effectLst/>
                <a:latin typeface="Arial" panose="020B0604020202020204" pitchFamily="34" charset="0"/>
              </a:rPr>
              <a:t>.</a:t>
            </a:r>
          </a:p>
          <a:p>
            <a:pPr defTabSz="914400" eaLnBrk="0" fontAlgn="base" hangingPunct="0">
              <a:lnSpc>
                <a:spcPct val="90000"/>
              </a:lnSpc>
              <a:spcBef>
                <a:spcPct val="0"/>
              </a:spcBef>
              <a:spcAft>
                <a:spcPts val="600"/>
              </a:spcAft>
            </a:pPr>
            <a:r>
              <a:rPr kumimoji="0" lang="en-US" altLang="en-US" sz="1800" b="0" i="0" u="none" strike="noStrike" cap="none" normalizeH="0" baseline="0">
                <a:ln>
                  <a:noFill/>
                </a:ln>
                <a:effectLst/>
                <a:latin typeface="Arial" panose="020B0604020202020204" pitchFamily="34" charset="0"/>
              </a:rPr>
              <a:t>The </a:t>
            </a:r>
            <a:r>
              <a:rPr kumimoji="0" lang="en-US" altLang="en-US" sz="1800" b="1" i="0" u="none" strike="noStrike" cap="none" normalizeH="0" baseline="0">
                <a:ln>
                  <a:noFill/>
                </a:ln>
                <a:effectLst/>
                <a:latin typeface="Arial" panose="020B0604020202020204" pitchFamily="34" charset="0"/>
              </a:rPr>
              <a:t>dashed identity line</a:t>
            </a:r>
            <a:r>
              <a:rPr kumimoji="0" lang="en-US" altLang="en-US" sz="1800" b="0" i="0" u="none" strike="noStrike" cap="none" normalizeH="0" baseline="0">
                <a:ln>
                  <a:noFill/>
                </a:ln>
                <a:effectLst/>
                <a:latin typeface="Arial" panose="020B0604020202020204" pitchFamily="34" charset="0"/>
              </a:rPr>
              <a:t> (y = x) marks equal synchrony.</a:t>
            </a:r>
          </a:p>
          <a:p>
            <a:pPr defTabSz="914400" eaLnBrk="0" fontAlgn="base" hangingPunct="0">
              <a:lnSpc>
                <a:spcPct val="90000"/>
              </a:lnSpc>
              <a:spcBef>
                <a:spcPct val="0"/>
              </a:spcBef>
              <a:spcAft>
                <a:spcPts val="600"/>
              </a:spcAft>
            </a:pPr>
            <a:r>
              <a:rPr kumimoji="0" lang="en-US" altLang="en-US" sz="1800" b="1" i="0" u="none" strike="noStrike" cap="none" normalizeH="0" baseline="0">
                <a:ln>
                  <a:noFill/>
                </a:ln>
                <a:effectLst/>
                <a:latin typeface="Arial" panose="020B0604020202020204" pitchFamily="34" charset="0"/>
              </a:rPr>
              <a:t>Above the line</a:t>
            </a:r>
            <a:r>
              <a:rPr kumimoji="0" lang="en-US" altLang="en-US" sz="1800" b="0" i="0" u="none" strike="noStrike" cap="none" normalizeH="0" baseline="0">
                <a:ln>
                  <a:noFill/>
                </a:ln>
                <a:effectLst/>
                <a:latin typeface="Arial" panose="020B0604020202020204" pitchFamily="34" charset="0"/>
              </a:rPr>
              <a:t> → imagery PLV &gt; execution PLV</a:t>
            </a:r>
          </a:p>
          <a:p>
            <a:pPr defTabSz="914400" eaLnBrk="0" fontAlgn="base" hangingPunct="0">
              <a:lnSpc>
                <a:spcPct val="90000"/>
              </a:lnSpc>
              <a:spcBef>
                <a:spcPct val="0"/>
              </a:spcBef>
              <a:spcAft>
                <a:spcPts val="600"/>
              </a:spcAft>
            </a:pPr>
            <a:r>
              <a:rPr kumimoji="0" lang="en-US" altLang="en-US" sz="1800" b="1" i="0" u="none" strike="noStrike" cap="none" normalizeH="0" baseline="0">
                <a:ln>
                  <a:noFill/>
                </a:ln>
                <a:effectLst/>
                <a:latin typeface="Arial" panose="020B0604020202020204" pitchFamily="34" charset="0"/>
              </a:rPr>
              <a:t>Below the line</a:t>
            </a:r>
            <a:r>
              <a:rPr kumimoji="0" lang="en-US" altLang="en-US" sz="1800" b="0" i="0" u="none" strike="noStrike" cap="none" normalizeH="0" baseline="0">
                <a:ln>
                  <a:noFill/>
                </a:ln>
                <a:effectLst/>
                <a:latin typeface="Arial" panose="020B0604020202020204" pitchFamily="34" charset="0"/>
              </a:rPr>
              <a:t> → execution PLV &gt; imagery PLV</a:t>
            </a:r>
          </a:p>
          <a:p>
            <a:pPr defTabSz="914400" eaLnBrk="0" fontAlgn="base" hangingPunct="0">
              <a:lnSpc>
                <a:spcPct val="90000"/>
              </a:lnSpc>
              <a:spcBef>
                <a:spcPct val="0"/>
              </a:spcBef>
              <a:spcAft>
                <a:spcPts val="600"/>
              </a:spcAft>
            </a:pPr>
            <a:r>
              <a:rPr kumimoji="0" lang="en-US" altLang="en-US" sz="1800" b="0" i="0" u="none" strike="noStrike" cap="none" normalizeH="0" baseline="0">
                <a:ln>
                  <a:noFill/>
                </a:ln>
                <a:effectLst/>
                <a:latin typeface="Arial" panose="020B0604020202020204" pitchFamily="34" charset="0"/>
              </a:rPr>
              <a:t>In our ten subjects you can see that some lie above (imagery stronger) and some below (execution stronger), illustrating individual variability in how imagined versus real fist movements synchronize β-band phases.</a:t>
            </a:r>
          </a:p>
        </p:txBody>
      </p:sp>
      <p:pic>
        <p:nvPicPr>
          <p:cNvPr id="11" name="Picture 10">
            <a:extLst>
              <a:ext uri="{FF2B5EF4-FFF2-40B4-BE49-F238E27FC236}">
                <a16:creationId xmlns:a16="http://schemas.microsoft.com/office/drawing/2014/main" id="{9F742AFE-9272-6A57-682F-2EFEE77C3605}"/>
              </a:ext>
            </a:extLst>
          </p:cNvPr>
          <p:cNvPicPr>
            <a:picLocks noChangeAspect="1"/>
          </p:cNvPicPr>
          <p:nvPr/>
        </p:nvPicPr>
        <p:blipFill>
          <a:blip r:embed="rId2"/>
          <a:stretch>
            <a:fillRect/>
          </a:stretch>
        </p:blipFill>
        <p:spPr>
          <a:xfrm>
            <a:off x="457200" y="1781902"/>
            <a:ext cx="5333559" cy="3998645"/>
          </a:xfrm>
          <a:prstGeom prst="rect">
            <a:avLst/>
          </a:prstGeom>
        </p:spPr>
      </p:pic>
    </p:spTree>
    <p:extLst>
      <p:ext uri="{BB962C8B-B14F-4D97-AF65-F5344CB8AC3E}">
        <p14:creationId xmlns:p14="http://schemas.microsoft.com/office/powerpoint/2010/main" val="2570780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C7B01B-5AA9-DCA5-8A46-941997C6BBB7}"/>
              </a:ext>
            </a:extLst>
          </p:cNvPr>
          <p:cNvSpPr>
            <a:spLocks noGrp="1"/>
          </p:cNvSpPr>
          <p:nvPr>
            <p:ph type="title"/>
          </p:nvPr>
        </p:nvSpPr>
        <p:spPr>
          <a:xfrm>
            <a:off x="772147" y="2248254"/>
            <a:ext cx="4644419" cy="4160709"/>
          </a:xfrm>
        </p:spPr>
        <p:txBody>
          <a:bodyPr vert="horz" lIns="91440" tIns="45720" rIns="91440" bIns="45720" rtlCol="0" anchor="t">
            <a:noAutofit/>
          </a:bodyPr>
          <a:lstStyle/>
          <a:p>
            <a:pPr algn="just" defTabSz="914400">
              <a:lnSpc>
                <a:spcPct val="90000"/>
              </a:lnSpc>
            </a:pPr>
            <a:r>
              <a:rPr lang="en-US" sz="1800" kern="1200" dirty="0">
                <a:solidFill>
                  <a:schemeClr val="tx1"/>
                </a:solidFill>
                <a:latin typeface="+mj-lt"/>
                <a:ea typeface="+mj-ea"/>
                <a:cs typeface="+mj-cs"/>
              </a:rPr>
              <a:t>We pooled the </a:t>
            </a:r>
            <a:r>
              <a:rPr lang="en-US" sz="1800" b="1" kern="1200" dirty="0">
                <a:solidFill>
                  <a:schemeClr val="tx1"/>
                </a:solidFill>
                <a:latin typeface="+mj-lt"/>
                <a:ea typeface="+mj-ea"/>
                <a:cs typeface="+mj-cs"/>
              </a:rPr>
              <a:t>observed mean-PLV differences</a:t>
            </a:r>
            <a:r>
              <a:rPr lang="en-US" sz="1800" kern="1200" dirty="0">
                <a:solidFill>
                  <a:schemeClr val="tx1"/>
                </a:solidFill>
                <a:latin typeface="+mj-lt"/>
                <a:ea typeface="+mj-ea"/>
                <a:cs typeface="+mj-cs"/>
              </a:rPr>
              <a:t> (R03–R04) across subjects, then </a:t>
            </a:r>
            <a:r>
              <a:rPr lang="en-US" sz="1800" b="1" kern="1200" dirty="0">
                <a:solidFill>
                  <a:schemeClr val="tx1"/>
                </a:solidFill>
                <a:latin typeface="+mj-lt"/>
                <a:ea typeface="+mj-ea"/>
                <a:cs typeface="+mj-cs"/>
              </a:rPr>
              <a:t>shuffled</a:t>
            </a:r>
            <a:r>
              <a:rPr lang="en-US" sz="1800" kern="1200" dirty="0">
                <a:solidFill>
                  <a:schemeClr val="tx1"/>
                </a:solidFill>
                <a:latin typeface="+mj-lt"/>
                <a:ea typeface="+mj-ea"/>
                <a:cs typeface="+mj-cs"/>
              </a:rPr>
              <a:t> which trials were labeled “real” vs. “imagery” 1,000 times to build this null distribution of “no effect.”</a:t>
            </a: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r>
              <a:rPr lang="en-US" sz="1800" kern="1200" dirty="0">
                <a:solidFill>
                  <a:schemeClr val="tx1"/>
                </a:solidFill>
                <a:latin typeface="+mj-lt"/>
                <a:ea typeface="+mj-ea"/>
                <a:cs typeface="+mj-cs"/>
              </a:rPr>
              <a:t>The </a:t>
            </a:r>
            <a:r>
              <a:rPr lang="en-US" sz="1800" b="1" kern="1200" dirty="0">
                <a:solidFill>
                  <a:schemeClr val="tx1"/>
                </a:solidFill>
                <a:latin typeface="+mj-lt"/>
                <a:ea typeface="+mj-ea"/>
                <a:cs typeface="+mj-cs"/>
              </a:rPr>
              <a:t>red vertical line</a:t>
            </a:r>
            <a:r>
              <a:rPr lang="en-US" sz="1800" kern="1200" dirty="0">
                <a:solidFill>
                  <a:schemeClr val="tx1"/>
                </a:solidFill>
                <a:latin typeface="+mj-lt"/>
                <a:ea typeface="+mj-ea"/>
                <a:cs typeface="+mj-cs"/>
              </a:rPr>
              <a:t> is the actual mean difference (real – </a:t>
            </a:r>
            <a:r>
              <a:rPr lang="en-US" sz="1800" kern="1200" dirty="0" err="1">
                <a:solidFill>
                  <a:schemeClr val="tx1"/>
                </a:solidFill>
                <a:latin typeface="+mj-lt"/>
                <a:ea typeface="+mj-ea"/>
                <a:cs typeface="+mj-cs"/>
              </a:rPr>
              <a:t>imag</a:t>
            </a:r>
            <a:r>
              <a:rPr lang="en-US" sz="1800" kern="1200" dirty="0">
                <a:solidFill>
                  <a:schemeClr val="tx1"/>
                </a:solidFill>
                <a:latin typeface="+mj-lt"/>
                <a:ea typeface="+mj-ea"/>
                <a:cs typeface="+mj-cs"/>
              </a:rPr>
              <a:t>).</a:t>
            </a: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r>
              <a:rPr lang="en-US" sz="1800" kern="1200" dirty="0">
                <a:solidFill>
                  <a:schemeClr val="tx1"/>
                </a:solidFill>
                <a:latin typeface="+mj-lt"/>
                <a:ea typeface="+mj-ea"/>
                <a:cs typeface="+mj-cs"/>
              </a:rPr>
              <a:t>If that red line falls far into the tails of this histogram, it would indicate a significant PLV difference.</a:t>
            </a: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r>
              <a:rPr lang="en-US" sz="1800" kern="1200" dirty="0">
                <a:solidFill>
                  <a:schemeClr val="tx1"/>
                </a:solidFill>
                <a:latin typeface="+mj-lt"/>
                <a:ea typeface="+mj-ea"/>
                <a:cs typeface="+mj-cs"/>
              </a:rPr>
              <a:t> Here, it sits near the center, consistent with our group-level p ≈ 0.24 (i.e. </a:t>
            </a:r>
            <a:r>
              <a:rPr lang="en-US" sz="1800" b="1" kern="1200" dirty="0">
                <a:solidFill>
                  <a:schemeClr val="tx1"/>
                </a:solidFill>
                <a:latin typeface="+mj-lt"/>
                <a:ea typeface="+mj-ea"/>
                <a:cs typeface="+mj-cs"/>
              </a:rPr>
              <a:t>no strong overall difference</a:t>
            </a:r>
            <a:r>
              <a:rPr lang="en-US" sz="1800" kern="1200" dirty="0">
                <a:solidFill>
                  <a:schemeClr val="tx1"/>
                </a:solidFill>
                <a:latin typeface="+mj-lt"/>
                <a:ea typeface="+mj-ea"/>
                <a:cs typeface="+mj-cs"/>
              </a:rPr>
              <a:t> in unilateral runs).</a:t>
            </a:r>
            <a:br>
              <a:rPr lang="en-US" sz="1800" kern="1200" dirty="0">
                <a:solidFill>
                  <a:schemeClr val="tx1"/>
                </a:solidFill>
                <a:latin typeface="+mj-lt"/>
                <a:ea typeface="+mj-ea"/>
                <a:cs typeface="+mj-cs"/>
              </a:rPr>
            </a:br>
            <a:endParaRPr lang="en-US" sz="1800" kern="1200" dirty="0">
              <a:solidFill>
                <a:schemeClr val="tx1"/>
              </a:solidFill>
              <a:latin typeface="+mj-lt"/>
              <a:ea typeface="+mj-ea"/>
              <a:cs typeface="+mj-cs"/>
            </a:endParaRPr>
          </a:p>
        </p:txBody>
      </p:sp>
      <p:grpSp>
        <p:nvGrpSpPr>
          <p:cNvPr id="27" name="Group 26">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330" cy="673460"/>
            <a:chOff x="3940602" y="308034"/>
            <a:chExt cx="2116791" cy="3428999"/>
          </a:xfrm>
          <a:solidFill>
            <a:schemeClr val="accent4"/>
          </a:solidFill>
        </p:grpSpPr>
        <p:sp>
          <p:nvSpPr>
            <p:cNvPr id="28" name="Rectangle 27">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4884" y="0"/>
            <a:ext cx="1493941"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4329" y="391886"/>
            <a:ext cx="6007801"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3DC815A-3F52-45C0-BF14-561465C0E88B}"/>
              </a:ext>
            </a:extLst>
          </p:cNvPr>
          <p:cNvPicPr>
            <a:picLocks noChangeAspect="1"/>
          </p:cNvPicPr>
          <p:nvPr/>
        </p:nvPicPr>
        <p:blipFill>
          <a:blip r:embed="rId2"/>
          <a:stretch>
            <a:fillRect/>
          </a:stretch>
        </p:blipFill>
        <p:spPr>
          <a:xfrm>
            <a:off x="5920949" y="1324163"/>
            <a:ext cx="5534560" cy="4150921"/>
          </a:xfrm>
          <a:prstGeom prst="rect">
            <a:avLst/>
          </a:prstGeom>
        </p:spPr>
      </p:pic>
      <p:sp>
        <p:nvSpPr>
          <p:cNvPr id="6" name="TextBox 5">
            <a:extLst>
              <a:ext uri="{FF2B5EF4-FFF2-40B4-BE49-F238E27FC236}">
                <a16:creationId xmlns:a16="http://schemas.microsoft.com/office/drawing/2014/main" id="{A29A43A3-FD74-5EBF-77DC-5B0253667DCC}"/>
              </a:ext>
            </a:extLst>
          </p:cNvPr>
          <p:cNvSpPr txBox="1"/>
          <p:nvPr/>
        </p:nvSpPr>
        <p:spPr>
          <a:xfrm>
            <a:off x="731330" y="873760"/>
            <a:ext cx="4257230" cy="954107"/>
          </a:xfrm>
          <a:prstGeom prst="rect">
            <a:avLst/>
          </a:prstGeom>
          <a:noFill/>
        </p:spPr>
        <p:txBody>
          <a:bodyPr wrap="square" rtlCol="0">
            <a:spAutoFit/>
          </a:bodyPr>
          <a:lstStyle/>
          <a:p>
            <a:r>
              <a:rPr lang="en-US" sz="2800" b="1" kern="1200" dirty="0">
                <a:solidFill>
                  <a:schemeClr val="tx1"/>
                </a:solidFill>
                <a:latin typeface="+mj-lt"/>
                <a:ea typeface="+mj-ea"/>
                <a:cs typeface="+mj-cs"/>
              </a:rPr>
              <a:t>Permutation Null Distribution (Histogram)</a:t>
            </a:r>
            <a:endParaRPr lang="en-US" sz="2800" dirty="0"/>
          </a:p>
        </p:txBody>
      </p:sp>
    </p:spTree>
    <p:extLst>
      <p:ext uri="{BB962C8B-B14F-4D97-AF65-F5344CB8AC3E}">
        <p14:creationId xmlns:p14="http://schemas.microsoft.com/office/powerpoint/2010/main" val="2688707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54674B-1466-1BB0-30E4-E9A8740C6353}"/>
              </a:ext>
            </a:extLst>
          </p:cNvPr>
          <p:cNvSpPr>
            <a:spLocks noGrp="1"/>
          </p:cNvSpPr>
          <p:nvPr>
            <p:ph type="title"/>
          </p:nvPr>
        </p:nvSpPr>
        <p:spPr>
          <a:xfrm>
            <a:off x="644896" y="525982"/>
            <a:ext cx="4281867" cy="1200361"/>
          </a:xfrm>
        </p:spPr>
        <p:txBody>
          <a:bodyPr vert="horz" lIns="91440" tIns="45720" rIns="91440" bIns="45720" rtlCol="0" anchor="b">
            <a:normAutofit/>
          </a:bodyPr>
          <a:lstStyle/>
          <a:p>
            <a:pPr algn="l" defTabSz="914400">
              <a:lnSpc>
                <a:spcPct val="90000"/>
              </a:lnSpc>
            </a:pPr>
            <a:r>
              <a:rPr lang="en-US" sz="3600" kern="1200">
                <a:solidFill>
                  <a:schemeClr val="tx1"/>
                </a:solidFill>
                <a:latin typeface="+mj-lt"/>
                <a:ea typeface="+mj-ea"/>
                <a:cs typeface="+mj-cs"/>
              </a:rPr>
              <a:t>PLV Distributions Boxplot</a:t>
            </a:r>
          </a:p>
        </p:txBody>
      </p:sp>
      <p:sp>
        <p:nvSpPr>
          <p:cNvPr id="13" name="Rectangle 1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372" y="1944913"/>
            <a:ext cx="4022312"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D9131E7-E229-05B4-3F14-4F8A2AFD8B98}"/>
              </a:ext>
            </a:extLst>
          </p:cNvPr>
          <p:cNvSpPr txBox="1"/>
          <p:nvPr/>
        </p:nvSpPr>
        <p:spPr>
          <a:xfrm>
            <a:off x="644898" y="2258538"/>
            <a:ext cx="4281868" cy="3511943"/>
          </a:xfrm>
          <a:prstGeom prst="rect">
            <a:avLst/>
          </a:prstGeom>
        </p:spPr>
        <p:txBody>
          <a:bodyPr vert="horz" lIns="91440" tIns="45720" rIns="91440" bIns="45720" rtlCol="0" anchor="ctr">
            <a:normAutofit/>
          </a:bodyPr>
          <a:lstStyle/>
          <a:p>
            <a:pPr marL="28575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1500" b="0" i="0" u="none" strike="noStrike" cap="none" normalizeH="0" baseline="0">
                <a:ln>
                  <a:noFill/>
                </a:ln>
                <a:effectLst/>
              </a:rPr>
              <a:t>For each condition (R03–R06) we pooled </a:t>
            </a:r>
            <a:r>
              <a:rPr kumimoji="0" lang="en-US" altLang="en-US" sz="1500" b="1" i="0" u="none" strike="noStrike" cap="none" normalizeH="0" baseline="0">
                <a:ln>
                  <a:noFill/>
                </a:ln>
                <a:effectLst/>
              </a:rPr>
              <a:t>all off-diagonal PLV values</a:t>
            </a:r>
            <a:r>
              <a:rPr kumimoji="0" lang="en-US" altLang="en-US" sz="1500" b="0" i="0" u="none" strike="noStrike" cap="none" normalizeH="0" baseline="0">
                <a:ln>
                  <a:noFill/>
                </a:ln>
                <a:effectLst/>
              </a:rPr>
              <a:t> (every channel-pair) across our ten subjects.</a:t>
            </a:r>
          </a:p>
          <a:p>
            <a:pPr marL="28575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1500" b="0" i="0" u="none" strike="noStrike" cap="none" normalizeH="0" baseline="0">
                <a:ln>
                  <a:noFill/>
                </a:ln>
                <a:effectLst/>
              </a:rPr>
              <a:t>The </a:t>
            </a:r>
            <a:r>
              <a:rPr kumimoji="0" lang="en-US" altLang="en-US" sz="1500" b="1" i="0" u="none" strike="noStrike" cap="none" normalizeH="0" baseline="0">
                <a:ln>
                  <a:noFill/>
                </a:ln>
                <a:effectLst/>
              </a:rPr>
              <a:t>box</a:t>
            </a:r>
            <a:r>
              <a:rPr kumimoji="0" lang="en-US" altLang="en-US" sz="1500" b="0" i="0" u="none" strike="noStrike" cap="none" normalizeH="0" baseline="0">
                <a:ln>
                  <a:noFill/>
                </a:ln>
                <a:effectLst/>
              </a:rPr>
              <a:t> spans the interquartile range (IQR), the </a:t>
            </a:r>
            <a:r>
              <a:rPr kumimoji="0" lang="en-US" altLang="en-US" sz="1500" b="1" i="0" u="none" strike="noStrike" cap="none" normalizeH="0" baseline="0">
                <a:ln>
                  <a:noFill/>
                </a:ln>
                <a:effectLst/>
              </a:rPr>
              <a:t>line</a:t>
            </a:r>
            <a:r>
              <a:rPr kumimoji="0" lang="en-US" altLang="en-US" sz="1500" b="0" i="0" u="none" strike="noStrike" cap="none" normalizeH="0" baseline="0">
                <a:ln>
                  <a:noFill/>
                </a:ln>
                <a:effectLst/>
              </a:rPr>
              <a:t> is the median, and the </a:t>
            </a:r>
            <a:r>
              <a:rPr kumimoji="0" lang="en-US" altLang="en-US" sz="1500" b="1" i="0" u="none" strike="noStrike" cap="none" normalizeH="0" baseline="0">
                <a:ln>
                  <a:noFill/>
                </a:ln>
                <a:effectLst/>
              </a:rPr>
              <a:t>whiskers</a:t>
            </a:r>
            <a:r>
              <a:rPr kumimoji="0" lang="en-US" altLang="en-US" sz="1500" b="0" i="0" u="none" strike="noStrike" cap="none" normalizeH="0" baseline="0">
                <a:ln>
                  <a:noFill/>
                </a:ln>
                <a:effectLst/>
              </a:rPr>
              <a:t> extend to 1.5×IQR. Points beyond are plotted as outliers.</a:t>
            </a:r>
          </a:p>
          <a:p>
            <a:pPr marL="28575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1500" b="0" i="0" u="none" strike="noStrike" cap="none" normalizeH="0" baseline="0">
                <a:ln>
                  <a:noFill/>
                </a:ln>
                <a:effectLst/>
              </a:rPr>
              <a:t>You can see that all four conditions have very similar median PLVs (~0.02–0.03) but there’s a wide spread of pairwise synchrony values in each case.</a:t>
            </a:r>
          </a:p>
          <a:p>
            <a:pPr marL="285750" marR="0" lvl="0" indent="-228600" defTabSz="914400" fontAlgn="base">
              <a:lnSpc>
                <a:spcPct val="90000"/>
              </a:lnSpc>
              <a:spcBef>
                <a:spcPct val="0"/>
              </a:spcBef>
              <a:spcAft>
                <a:spcPts val="600"/>
              </a:spcAft>
              <a:buClrTx/>
              <a:buSzTx/>
              <a:buFont typeface="Arial" panose="020B0604020202020204" pitchFamily="34" charset="0"/>
              <a:buChar char="•"/>
              <a:tabLst/>
            </a:pPr>
            <a:r>
              <a:rPr kumimoji="0" lang="en-US" altLang="en-US" sz="1500" b="0" i="0" u="none" strike="noStrike" cap="none" normalizeH="0" baseline="0">
                <a:ln>
                  <a:noFill/>
                </a:ln>
                <a:effectLst/>
              </a:rPr>
              <a:t>This corroborates that, at the network level, β-phase locking is relatively consistent across subjects and conditions, with only subtle shifts between real and imagined or unilateral vs. bilateral tasks.</a:t>
            </a:r>
          </a:p>
          <a:p>
            <a:pPr indent="-228600" defTabSz="914400">
              <a:lnSpc>
                <a:spcPct val="90000"/>
              </a:lnSpc>
              <a:spcAft>
                <a:spcPts val="600"/>
              </a:spcAft>
              <a:buFont typeface="Arial" panose="020B0604020202020204" pitchFamily="34" charset="0"/>
              <a:buChar char="•"/>
            </a:pPr>
            <a:endParaRPr lang="en-US" sz="1500"/>
          </a:p>
        </p:txBody>
      </p:sp>
      <p:sp>
        <p:nvSpPr>
          <p:cNvPr id="15" name="Rectangle 1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81" y="6053380"/>
            <a:ext cx="740664" cy="1540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3289" y="216742"/>
            <a:ext cx="740664" cy="118304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309" y="354959"/>
            <a:ext cx="6183362"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12CDD8B-299D-7890-DCCD-3FA18F1035C6}"/>
              </a:ext>
            </a:extLst>
          </p:cNvPr>
          <p:cNvPicPr>
            <a:picLocks noGrp="1" noChangeAspect="1"/>
          </p:cNvPicPr>
          <p:nvPr>
            <p:ph idx="1"/>
          </p:nvPr>
        </p:nvPicPr>
        <p:blipFill>
          <a:blip r:embed="rId2"/>
          <a:stretch>
            <a:fillRect/>
          </a:stretch>
        </p:blipFill>
        <p:spPr>
          <a:xfrm>
            <a:off x="5917374" y="1149013"/>
            <a:ext cx="5626553" cy="4219916"/>
          </a:xfrm>
          <a:prstGeom prst="rect">
            <a:avLst/>
          </a:prstGeom>
        </p:spPr>
      </p:pic>
    </p:spTree>
    <p:extLst>
      <p:ext uri="{BB962C8B-B14F-4D97-AF65-F5344CB8AC3E}">
        <p14:creationId xmlns:p14="http://schemas.microsoft.com/office/powerpoint/2010/main" val="394291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2CC4CC8-F8B0-A67D-87CD-B2F09EC3B13B}"/>
              </a:ext>
            </a:extLst>
          </p:cNvPr>
          <p:cNvSpPr txBox="1"/>
          <p:nvPr/>
        </p:nvSpPr>
        <p:spPr>
          <a:xfrm>
            <a:off x="808427" y="386930"/>
            <a:ext cx="9234295" cy="1188950"/>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5300" kern="1200">
                <a:solidFill>
                  <a:schemeClr val="tx1"/>
                </a:solidFill>
                <a:latin typeface="+mj-lt"/>
                <a:ea typeface="+mj-ea"/>
                <a:cs typeface="+mj-cs"/>
              </a:rPr>
              <a:t>Results</a:t>
            </a:r>
          </a:p>
        </p:txBody>
      </p:sp>
      <p:grpSp>
        <p:nvGrpSpPr>
          <p:cNvPr id="26" name="Group 25">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11692013" cy="782176"/>
            <a:chOff x="-2" y="1998368"/>
            <a:chExt cx="11695083" cy="782176"/>
          </a:xfrm>
        </p:grpSpPr>
        <p:sp>
          <p:nvSpPr>
            <p:cNvPr id="14" name="Rectangle 13">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0397"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A72DBAD-C993-E834-F1D5-9A685BB6C1D1}"/>
              </a:ext>
            </a:extLst>
          </p:cNvPr>
          <p:cNvSpPr>
            <a:spLocks noGrp="1"/>
          </p:cNvSpPr>
          <p:nvPr>
            <p:ph idx="1"/>
          </p:nvPr>
        </p:nvSpPr>
        <p:spPr>
          <a:xfrm>
            <a:off x="527762" y="2203079"/>
            <a:ext cx="10484147" cy="4357135"/>
          </a:xfrm>
        </p:spPr>
        <p:txBody>
          <a:bodyPr vert="horz" lIns="91440" tIns="45720" rIns="91440" bIns="45720" rtlCol="0" anchor="ctr">
            <a:normAutofit/>
          </a:bodyPr>
          <a:lstStyle/>
          <a:p>
            <a:pPr indent="-228600" defTabSz="914400">
              <a:lnSpc>
                <a:spcPct val="90000"/>
              </a:lnSpc>
              <a:buFont typeface="Arial" panose="020B0604020202020204" pitchFamily="34" charset="0"/>
              <a:buChar char="•"/>
            </a:pPr>
            <a:r>
              <a:rPr lang="en-US" sz="1600" b="1" dirty="0"/>
              <a:t>Bilateral Tasks (R05 vs. R06):</a:t>
            </a:r>
            <a:br>
              <a:rPr lang="en-US" sz="1600" dirty="0"/>
            </a:br>
            <a:r>
              <a:rPr lang="en-US" sz="1600" dirty="0"/>
              <a:t>– 7 / 10 subjects showed significant real-vs-imagery PLV differences (mean p ≈ 0.18).</a:t>
            </a:r>
            <a:br>
              <a:rPr lang="en-US" sz="1600" dirty="0"/>
            </a:br>
            <a:r>
              <a:rPr lang="en-US" sz="1600" dirty="0"/>
              <a:t>– Group means: R05 = 0.0315, R06 = 0.0308 → real &gt; imagery ✔️</a:t>
            </a:r>
          </a:p>
          <a:p>
            <a:pPr indent="-228600" defTabSz="914400">
              <a:lnSpc>
                <a:spcPct val="90000"/>
              </a:lnSpc>
              <a:buFont typeface="Arial" panose="020B0604020202020204" pitchFamily="34" charset="0"/>
              <a:buChar char="•"/>
            </a:pPr>
            <a:r>
              <a:rPr lang="en-US" sz="1600" b="1" dirty="0"/>
              <a:t>Unilateral Tasks (R03 vs. R04):</a:t>
            </a:r>
            <a:br>
              <a:rPr lang="en-US" sz="1600" dirty="0"/>
            </a:br>
            <a:r>
              <a:rPr lang="en-US" sz="1600" dirty="0"/>
              <a:t>– 4 / 10 subjects significant (mean p ≈ 0.24).</a:t>
            </a:r>
            <a:br>
              <a:rPr lang="en-US" sz="1600" dirty="0"/>
            </a:br>
            <a:r>
              <a:rPr lang="en-US" sz="1600" dirty="0"/>
              <a:t>– Group means: R03 = 0.0291, R04 = 0.0303 → imagery ≥ execution ✖️</a:t>
            </a:r>
          </a:p>
          <a:p>
            <a:pPr indent="-228600" defTabSz="914400">
              <a:lnSpc>
                <a:spcPct val="90000"/>
              </a:lnSpc>
              <a:buFont typeface="Arial" panose="020B0604020202020204" pitchFamily="34" charset="0"/>
              <a:buChar char="•"/>
            </a:pPr>
            <a:r>
              <a:rPr lang="en-US" sz="1600" b="1" dirty="0"/>
              <a:t>Cross-Run PLV:</a:t>
            </a:r>
            <a:br>
              <a:rPr lang="en-US" sz="1600" dirty="0"/>
            </a:br>
            <a:r>
              <a:rPr lang="en-US" sz="1600" dirty="0"/>
              <a:t>Moderate similarity (≈ 0.016–0.018) across all run-pairs, confirming both shared core synchrony and condition-specific differences.</a:t>
            </a:r>
          </a:p>
          <a:p>
            <a:pPr indent="-228600" defTabSz="914400">
              <a:lnSpc>
                <a:spcPct val="90000"/>
              </a:lnSpc>
              <a:buFont typeface="Arial" panose="020B0604020202020204" pitchFamily="34" charset="0"/>
              <a:buChar char="•"/>
            </a:pPr>
            <a:r>
              <a:rPr lang="en-US" sz="1600" b="1" dirty="0"/>
              <a:t>Time-Resolved PLV:</a:t>
            </a:r>
            <a:br>
              <a:rPr lang="en-US" sz="1600" dirty="0"/>
            </a:br>
            <a:r>
              <a:rPr lang="en-US" sz="1600" dirty="0"/>
              <a:t>Stable baseline with subtle, task-locked surges:</a:t>
            </a:r>
            <a:br>
              <a:rPr lang="en-US" sz="1600" dirty="0"/>
            </a:br>
            <a:r>
              <a:rPr lang="en-US" sz="1600" dirty="0"/>
              <a:t>– Unilateral imagery leads execution by ~+0.001 PLV.</a:t>
            </a:r>
            <a:br>
              <a:rPr lang="en-US" sz="1600" dirty="0"/>
            </a:br>
            <a:r>
              <a:rPr lang="en-US" sz="1600" dirty="0"/>
              <a:t>– Bilateral execution leads imagery by ~+0.0015 PLV.</a:t>
            </a:r>
          </a:p>
          <a:p>
            <a:pPr marL="114300" indent="0" defTabSz="914400">
              <a:lnSpc>
                <a:spcPct val="90000"/>
              </a:lnSpc>
              <a:buNone/>
            </a:pPr>
            <a:endParaRPr lang="en-US" sz="1600" dirty="0"/>
          </a:p>
          <a:p>
            <a:pPr marL="114300" indent="0" defTabSz="914400">
              <a:lnSpc>
                <a:spcPct val="90000"/>
              </a:lnSpc>
              <a:buNone/>
            </a:pPr>
            <a:r>
              <a:rPr lang="en-US" sz="1600" b="1" dirty="0"/>
              <a:t>Hypothesis 1</a:t>
            </a:r>
            <a:r>
              <a:rPr lang="en-US" sz="1600" dirty="0"/>
              <a:t> is confirmed for </a:t>
            </a:r>
            <a:r>
              <a:rPr lang="en-US" sz="1600" b="1" dirty="0"/>
              <a:t>bilateral</a:t>
            </a:r>
            <a:r>
              <a:rPr lang="en-US" sz="1600" dirty="0"/>
              <a:t> but not for </a:t>
            </a:r>
            <a:r>
              <a:rPr lang="en-US" sz="1600" b="1" dirty="0"/>
              <a:t>unilateral</a:t>
            </a:r>
            <a:r>
              <a:rPr lang="en-US" sz="1600" dirty="0"/>
              <a:t> tasks.</a:t>
            </a:r>
          </a:p>
          <a:p>
            <a:pPr marL="114300" indent="0" defTabSz="914400">
              <a:lnSpc>
                <a:spcPct val="90000"/>
              </a:lnSpc>
              <a:buNone/>
            </a:pPr>
            <a:r>
              <a:rPr lang="en-US" sz="1600" b="1" dirty="0"/>
              <a:t>Hypothesis 2</a:t>
            </a:r>
            <a:r>
              <a:rPr lang="en-US" sz="1600" dirty="0"/>
              <a:t> is supported: both the static PLV matrices and their temporal profiles diverge between execution and imagery.</a:t>
            </a:r>
          </a:p>
          <a:p>
            <a:pPr indent="-228600" defTabSz="914400">
              <a:lnSpc>
                <a:spcPct val="90000"/>
              </a:lnSpc>
              <a:buFont typeface="Arial" panose="020B0604020202020204" pitchFamily="34" charset="0"/>
              <a:buChar char="•"/>
            </a:pPr>
            <a:endParaRPr lang="en-US" sz="1300" dirty="0"/>
          </a:p>
        </p:txBody>
      </p:sp>
    </p:spTree>
    <p:extLst>
      <p:ext uri="{BB962C8B-B14F-4D97-AF65-F5344CB8AC3E}">
        <p14:creationId xmlns:p14="http://schemas.microsoft.com/office/powerpoint/2010/main" val="2452105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427" y="386930"/>
            <a:ext cx="9234295" cy="1188950"/>
          </a:xfrm>
        </p:spPr>
        <p:txBody>
          <a:bodyPr anchor="b">
            <a:normAutofit/>
          </a:bodyPr>
          <a:lstStyle/>
          <a:p>
            <a:r>
              <a:rPr lang="en-US" sz="5300"/>
              <a:t>Conclusion and Future Work</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1169201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0397"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93453" y="2599509"/>
            <a:ext cx="10141026" cy="3435531"/>
          </a:xfrm>
        </p:spPr>
        <p:txBody>
          <a:bodyPr anchor="ctr">
            <a:normAutofit/>
          </a:bodyPr>
          <a:lstStyle/>
          <a:p>
            <a:endParaRPr lang="el-GR" sz="2400"/>
          </a:p>
          <a:p>
            <a:r>
              <a:rPr lang="el-GR" sz="2400"/>
              <a:t>β-</a:t>
            </a:r>
            <a:r>
              <a:rPr lang="en-US" sz="2400"/>
              <a:t>band PLV effectively distinguishes motor execution vs. imagery.</a:t>
            </a:r>
          </a:p>
          <a:p>
            <a:r>
              <a:rPr lang="en-US" sz="2400"/>
              <a:t>Within-subject, multi-condition PLV reveals distinct cortical synchrony patterns.</a:t>
            </a:r>
          </a:p>
          <a:p>
            <a:r>
              <a:rPr lang="en-US" sz="2400"/>
              <a:t>Applications: tailored BCI features, enhanced neurorehabilitation protocols.</a:t>
            </a:r>
          </a:p>
          <a:p>
            <a:r>
              <a:rPr lang="en-US" sz="2400"/>
              <a:t>Future: larger cohorts, high-gamma connectivity, real-time PLV feedback systems.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8427" y="386930"/>
            <a:ext cx="9234295" cy="1188950"/>
          </a:xfrm>
        </p:spPr>
        <p:txBody>
          <a:bodyPr anchor="b">
            <a:normAutofit/>
          </a:bodyPr>
          <a:lstStyle/>
          <a:p>
            <a:r>
              <a:rPr lang="en-US" sz="5300"/>
              <a:t>References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1169201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0397"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93453" y="2203079"/>
            <a:ext cx="10141026" cy="4147845"/>
          </a:xfrm>
        </p:spPr>
        <p:txBody>
          <a:bodyPr anchor="ctr">
            <a:normAutofit lnSpcReduction="10000"/>
          </a:bodyPr>
          <a:lstStyle/>
          <a:p>
            <a:endParaRPr lang="en-US" sz="2400" dirty="0"/>
          </a:p>
          <a:p>
            <a:pPr marL="0" indent="0">
              <a:buNone/>
            </a:pPr>
            <a:r>
              <a:rPr lang="en-US" sz="2400" dirty="0"/>
              <a:t>[1] </a:t>
            </a:r>
            <a:r>
              <a:rPr lang="en-US" sz="2400" dirty="0" err="1"/>
              <a:t>Pfurtscheller</a:t>
            </a:r>
            <a:r>
              <a:rPr lang="en-US" sz="2400" dirty="0"/>
              <a:t> &amp; Aranibar, Brain </a:t>
            </a:r>
            <a:r>
              <a:rPr lang="en-US" sz="2400" dirty="0" err="1"/>
              <a:t>Topogr</a:t>
            </a:r>
            <a:r>
              <a:rPr lang="en-US" sz="2400" dirty="0"/>
              <a:t>., 1977.</a:t>
            </a:r>
          </a:p>
          <a:p>
            <a:pPr marL="0" indent="0">
              <a:buNone/>
            </a:pPr>
            <a:r>
              <a:rPr lang="en-US" sz="2400" dirty="0"/>
              <a:t>[2] </a:t>
            </a:r>
            <a:r>
              <a:rPr lang="en-US" sz="2400" dirty="0" err="1"/>
              <a:t>Wolpaw</a:t>
            </a:r>
            <a:r>
              <a:rPr lang="en-US" sz="2400" dirty="0"/>
              <a:t> et al., Proc. IEEE, 2002.</a:t>
            </a:r>
          </a:p>
          <a:p>
            <a:pPr marL="0" indent="0">
              <a:buNone/>
            </a:pPr>
            <a:r>
              <a:rPr lang="en-US" sz="2400" dirty="0"/>
              <a:t>[3] </a:t>
            </a:r>
            <a:r>
              <a:rPr lang="en-US" sz="2400" dirty="0" err="1"/>
              <a:t>Oostenveld</a:t>
            </a:r>
            <a:r>
              <a:rPr lang="en-US" sz="2400" dirty="0"/>
              <a:t> et al., </a:t>
            </a:r>
            <a:r>
              <a:rPr lang="en-US" sz="2400" dirty="0" err="1"/>
              <a:t>Comput</a:t>
            </a:r>
            <a:r>
              <a:rPr lang="en-US" sz="2400" dirty="0"/>
              <a:t>. </a:t>
            </a:r>
            <a:r>
              <a:rPr lang="en-US" sz="2400" dirty="0" err="1"/>
              <a:t>Intell</a:t>
            </a:r>
            <a:r>
              <a:rPr lang="en-US" sz="2400" dirty="0"/>
              <a:t>. </a:t>
            </a:r>
            <a:r>
              <a:rPr lang="en-US" sz="2400" dirty="0" err="1"/>
              <a:t>Neurosci</a:t>
            </a:r>
            <a:r>
              <a:rPr lang="en-US" sz="2400" dirty="0"/>
              <a:t>., 2011.</a:t>
            </a:r>
          </a:p>
          <a:p>
            <a:pPr marL="0" indent="0">
              <a:buNone/>
            </a:pPr>
            <a:r>
              <a:rPr lang="en-US" sz="2400" dirty="0"/>
              <a:t>[4] van </a:t>
            </a:r>
            <a:r>
              <a:rPr lang="en-US" sz="2400" dirty="0" err="1"/>
              <a:t>Noordt</a:t>
            </a:r>
            <a:r>
              <a:rPr lang="en-US" sz="2400" dirty="0"/>
              <a:t> &amp; Taylor, J. </a:t>
            </a:r>
            <a:r>
              <a:rPr lang="en-US" sz="2400" dirty="0" err="1"/>
              <a:t>Neurosci</a:t>
            </a:r>
            <a:r>
              <a:rPr lang="en-US" sz="2400" dirty="0"/>
              <a:t>. Methods, 2015.</a:t>
            </a:r>
          </a:p>
          <a:p>
            <a:pPr marL="0" indent="0">
              <a:buNone/>
            </a:pPr>
            <a:r>
              <a:rPr lang="en-US" sz="2400" dirty="0"/>
              <a:t>[5] Hays et al., Hum. Brain Mapp., 2021.</a:t>
            </a:r>
          </a:p>
          <a:p>
            <a:pPr marL="0" indent="0">
              <a:buNone/>
            </a:pPr>
            <a:r>
              <a:rPr lang="en-US" sz="2400" dirty="0"/>
              <a:t>[6] </a:t>
            </a:r>
            <a:r>
              <a:rPr lang="en-US" sz="1400" b="0" i="0" u="none" strike="noStrike" dirty="0">
                <a:solidFill>
                  <a:srgbClr val="0366D6"/>
                </a:solidFill>
                <a:effectLst/>
                <a:latin typeface="Calibri (Headings)"/>
                <a:hlinkClick r:id="rId2"/>
              </a:rPr>
              <a:t>Schalk, G., McFarland, D.J., Hinterberger, T., Birbaumer, N., </a:t>
            </a:r>
            <a:r>
              <a:rPr lang="en-US" sz="1400" b="0" i="0" u="none" strike="noStrike" dirty="0" err="1">
                <a:solidFill>
                  <a:srgbClr val="0366D6"/>
                </a:solidFill>
                <a:effectLst/>
                <a:latin typeface="Calibri (Headings)"/>
                <a:hlinkClick r:id="rId2"/>
              </a:rPr>
              <a:t>Wolpaw</a:t>
            </a:r>
            <a:r>
              <a:rPr lang="en-US" sz="1400" b="0" i="0" u="none" strike="noStrike" dirty="0">
                <a:solidFill>
                  <a:srgbClr val="0366D6"/>
                </a:solidFill>
                <a:effectLst/>
                <a:latin typeface="Calibri (Headings)"/>
                <a:hlinkClick r:id="rId2"/>
              </a:rPr>
              <a:t>, J.R. BCI2000: A General-Purpose Brain-Computer Interface (BCI) System. IEEE Transactions on Biomedical Engineering 51(6):1034-1043, 2004.</a:t>
            </a:r>
            <a:endParaRPr lang="en-US" sz="1400" b="0" i="0" u="none" strike="noStrike" dirty="0">
              <a:solidFill>
                <a:srgbClr val="0366D6"/>
              </a:solidFill>
              <a:effectLst/>
              <a:latin typeface="Calibri (Headings)"/>
            </a:endParaRPr>
          </a:p>
          <a:p>
            <a:pPr marL="0" indent="0">
              <a:buNone/>
            </a:pPr>
            <a:r>
              <a:rPr lang="en-US" sz="2400" dirty="0"/>
              <a:t>[7] </a:t>
            </a:r>
            <a:r>
              <a:rPr lang="en-US" sz="1900" b="0" i="0" dirty="0">
                <a:solidFill>
                  <a:srgbClr val="1D2022"/>
                </a:solidFill>
                <a:effectLst/>
                <a:latin typeface="+mj-lt"/>
              </a:rPr>
              <a:t>Goldberger, A., Amaral, L., Glass, L., </a:t>
            </a:r>
            <a:r>
              <a:rPr lang="en-US" sz="1900" b="0" i="0" dirty="0" err="1">
                <a:solidFill>
                  <a:srgbClr val="1D2022"/>
                </a:solidFill>
                <a:effectLst/>
                <a:latin typeface="+mj-lt"/>
              </a:rPr>
              <a:t>Hausdorff</a:t>
            </a:r>
            <a:r>
              <a:rPr lang="en-US" sz="1900" b="0" i="0" dirty="0">
                <a:solidFill>
                  <a:srgbClr val="1D2022"/>
                </a:solidFill>
                <a:effectLst/>
                <a:latin typeface="+mj-lt"/>
              </a:rPr>
              <a:t>, J., Ivanov, P. C., Mark, R., ... &amp; Stanley, H. E. (2000). </a:t>
            </a:r>
            <a:r>
              <a:rPr lang="en-US" sz="1900" b="0" i="0" dirty="0" err="1">
                <a:solidFill>
                  <a:srgbClr val="1D2022"/>
                </a:solidFill>
                <a:effectLst/>
                <a:latin typeface="+mj-lt"/>
              </a:rPr>
              <a:t>PhysioBank</a:t>
            </a:r>
            <a:r>
              <a:rPr lang="en-US" sz="1900" b="0" i="0" dirty="0">
                <a:solidFill>
                  <a:srgbClr val="1D2022"/>
                </a:solidFill>
                <a:effectLst/>
                <a:latin typeface="+mj-lt"/>
              </a:rPr>
              <a:t>, </a:t>
            </a:r>
            <a:r>
              <a:rPr lang="en-US" sz="1900" b="0" i="0" dirty="0" err="1">
                <a:solidFill>
                  <a:srgbClr val="1D2022"/>
                </a:solidFill>
                <a:effectLst/>
                <a:latin typeface="+mj-lt"/>
              </a:rPr>
              <a:t>PhysioToolkit</a:t>
            </a:r>
            <a:r>
              <a:rPr lang="en-US" sz="1900" b="0" i="0" dirty="0">
                <a:solidFill>
                  <a:srgbClr val="1D2022"/>
                </a:solidFill>
                <a:effectLst/>
                <a:latin typeface="+mj-lt"/>
              </a:rPr>
              <a:t>, and PhysioNet: Components of a new research resource for complex physiologic signals. Circulation [Online]. 101 (23), pp. e215–e220.</a:t>
            </a:r>
            <a:endParaRPr lang="en-US" sz="1900" dirty="0">
              <a:latin typeface="+mj-l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3275</TotalTime>
  <Words>1276</Words>
  <Application>Microsoft Office PowerPoint</Application>
  <PresentationFormat>Custom</PresentationFormat>
  <Paragraphs>96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(Headings)</vt:lpstr>
      <vt:lpstr>Office Theme</vt:lpstr>
      <vt:lpstr>Beta Phase Synchronization Differences Between Motor Execution and Imagery</vt:lpstr>
      <vt:lpstr>OUTLINE</vt:lpstr>
      <vt:lpstr>MOTIVATION</vt:lpstr>
      <vt:lpstr>Hypotheses</vt:lpstr>
      <vt:lpstr>Comparison </vt:lpstr>
      <vt:lpstr>Proposed Concept</vt:lpstr>
      <vt:lpstr>Methods &amp; Procedures</vt:lpstr>
      <vt:lpstr>HeatMaps</vt:lpstr>
      <vt:lpstr>Mean &amp; Cross-Run PLV</vt:lpstr>
      <vt:lpstr>Results: Time-Resolved PLV</vt:lpstr>
      <vt:lpstr>Mean PLV Scatter</vt:lpstr>
      <vt:lpstr>We pooled the observed mean-PLV differences (R03–R04) across subjects, then shuffled which trials were labeled “real” vs. “imagery” 1,000 times to build this null distribution of “no effect.”  The red vertical line is the actual mean difference (real – imag).  If that red line falls far into the tails of this histogram, it would indicate a significant PLV difference.   Here, it sits near the center, consistent with our group-level p ≈ 0.24 (i.e. no strong overall difference in unilateral runs). </vt:lpstr>
      <vt:lpstr>PLV Distributions Boxplot</vt:lpstr>
      <vt:lpstr>PowerPoint Presentation</vt:lpstr>
      <vt:lpstr>Conclusion and Future Work</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CHARITH.S.S ALE</cp:lastModifiedBy>
  <cp:revision>8</cp:revision>
  <dcterms:created xsi:type="dcterms:W3CDTF">2013-01-27T09:14:16Z</dcterms:created>
  <dcterms:modified xsi:type="dcterms:W3CDTF">2025-05-01T20:26:21Z</dcterms:modified>
  <cp:category/>
</cp:coreProperties>
</file>